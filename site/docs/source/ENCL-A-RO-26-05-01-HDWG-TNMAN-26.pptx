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173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2" d="100"/>
          <a:sy n="82" d="100"/>
        </p:scale>
        <p:origin x="201" y="4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0904F3-46E0-42DC-967B-3BBA401CBF9F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E1D07-94A3-4F38-B710-A3B5AD3F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49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8C4E9-7CF2-FA29-587D-A94A36535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2402FB-A1DA-F9B9-EE98-653EC4CDAD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BF2EDC-A83F-7C73-E3E6-689EAE0F5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331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1B21D-1635-6241-D181-21AA7ECC5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753600-E28C-66D5-857B-24FAE1D99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C9961-AA86-CDB3-5BAC-47492645D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1C17E-6457-4645-9B39-9A741FDE136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546C7-9AC0-2DAD-073A-B0F7AEB30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5ED71-AF3D-4F0D-3E66-82D3539CB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6483-3B2E-4CF8-9277-B9E9FA78D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797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774D8-FD19-7235-FDD0-189A533F7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82A86-6B1B-102F-787A-DAD093479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9719F-F035-638E-6B7C-66021E727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1C17E-6457-4645-9B39-9A741FDE136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0FA5A-FFA9-CB64-8D4B-FC6BAEE38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E6A31-75E8-E0F6-521B-B80D691B8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6483-3B2E-4CF8-9277-B9E9FA78D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859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18ADB-50EC-FB9A-B637-FE3CC4EAD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6EDFC-8A37-642E-A09F-AE9CDB4F9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5660F-DD9B-76E5-E5AF-A20E9D352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1C17E-6457-4645-9B39-9A741FDE136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25AAC-CE31-2673-62A7-A1F7B004D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FF1D8-0B63-A32B-8403-9E9683855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6483-3B2E-4CF8-9277-B9E9FA78D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265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63133-40CC-2594-D51D-E30AEB7BE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F9D64-DC1E-873E-DADF-B928183945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25BAC-7C2B-8628-8A4E-3B12CCFB18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8AFEF3-E04B-3C19-D7AF-89203EE3E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1C17E-6457-4645-9B39-9A741FDE136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A9814-7D95-0654-E8A4-9C7CB1ECA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447B16-EDC6-8D18-F50D-945994DC6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6483-3B2E-4CF8-9277-B9E9FA78D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789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9E3B3-DB6B-FBC9-C614-8E8203913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778CD-F39A-F8A1-C8A9-9A3C249C5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62E9AD-27C5-7824-9AA3-9DAB01F3F1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0E7E2D-8F2E-FE6C-60AA-B8A0F5865A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836962-31EB-EF44-8DEF-4E3F1A1E1D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0DD824-DFB5-6BDD-6476-630962487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1C17E-6457-4645-9B39-9A741FDE136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D89B6B-F964-A371-BFC8-3CBE7787A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0BC799-08D3-2008-B6EC-209CC1487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6483-3B2E-4CF8-9277-B9E9FA78D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15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00FB-B3DB-125E-0658-B9A55BA7C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99DCCA-5C65-69B3-2CE1-54A06C571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1C17E-6457-4645-9B39-9A741FDE136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4C4F61-6A12-FE11-70B9-A774DC1CC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D65D4-B65D-6E23-64C8-4BAA4BD11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6483-3B2E-4CF8-9277-B9E9FA78D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916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480C7C-05B1-81E8-5F59-71C67B8C4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1C17E-6457-4645-9B39-9A741FDE136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9F3C65-4DE9-FBB4-6F90-78667FFA6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CE441-BED3-D93C-E50E-5C6A0D54F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6483-3B2E-4CF8-9277-B9E9FA78D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850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C72E1-AAE4-04D6-AC49-D04F36538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BF1F6-59D7-D551-597D-BAC1F5C9A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4E9AA-B196-0428-F326-DED569418E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617C8-3D4E-CD1A-7B14-2992DF2EB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1C17E-6457-4645-9B39-9A741FDE136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0CF8A-F391-34C2-CB8F-50A530B4D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94FCF-4AD4-94C9-A9F3-25724188F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6483-3B2E-4CF8-9277-B9E9FA78D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446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D088C-C600-14BC-AE93-AF018727E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F103F6-0451-DF81-E40B-52FC41CAC6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CF3C59-A326-30B8-87C2-9ACBA9B27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9679B3-14C3-907D-F383-401B37ECF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1C17E-6457-4645-9B39-9A741FDE136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20A2C-DD43-CAD3-61D1-6ECF6E1F9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0AD0E-FCE7-AEBC-1B38-FA334FEAB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6483-3B2E-4CF8-9277-B9E9FA78D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772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161D2-2286-7227-0153-642235E2F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7AF523-1435-13CA-04A7-F935AB78BE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010A2-C818-AF05-7391-1BE6CA758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1C17E-6457-4645-9B39-9A741FDE136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2834B-ACD2-42CF-AE99-B3B67BDD7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849A3-ECC4-09F6-EF99-6295345ED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6483-3B2E-4CF8-9277-B9E9FA78D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265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E5ACCD-E00B-904A-2FC6-2E2FD01D17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093A12-E50F-ED43-8C5F-DC7C53215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1945F-F63E-7301-9F48-F12384BD3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1C17E-6457-4645-9B39-9A741FDE136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9B7B2-767E-1E6B-A7A6-A4B85F91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56E6C-0437-3126-A389-A84E76A23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6483-3B2E-4CF8-9277-B9E9FA78D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080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BBD8B2-2603-898B-119C-211DCE24F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84A6CB-D59E-0F05-31C3-526EB9659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7D2D3-0F97-8AC9-F0F7-7F1721CC86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21C17E-6457-4645-9B39-9A741FDE136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E7501-05BD-EB74-131A-E5F866B910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FDD82-B7A6-8389-F8DE-A77B3B879F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E36483-3B2E-4CF8-9277-B9E9FA78D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233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51AC8-4073-D1DC-288B-DA9E02683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301ECCA9-2C00-45AE-3C02-18D24F3E4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1" y="123078"/>
            <a:ext cx="7886700" cy="5837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rial"/>
                <a:cs typeface="Arial"/>
              </a:rPr>
              <a:t>Working Group Slide Example</a:t>
            </a:r>
            <a:endParaRPr lang="en-US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C0E8A-DA6D-6886-75F8-93F330A58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89">
              <a:defRPr/>
            </a:pPr>
            <a:fld id="{6AC25671-793B-43FD-9287-2D5C3F89EA5F}" type="slidenum">
              <a:rPr lang="en-US">
                <a:solidFill>
                  <a:prstClr val="black">
                    <a:tint val="75000"/>
                  </a:prstClr>
                </a:solidFill>
                <a:latin typeface=" Arial"/>
              </a:rPr>
              <a:pPr defTabSz="457189">
                <a:defRPr/>
              </a:pPr>
              <a:t>1</a:t>
            </a:fld>
            <a:endParaRPr lang="en-US" dirty="0">
              <a:solidFill>
                <a:prstClr val="black">
                  <a:tint val="75000"/>
                </a:prstClr>
              </a:solidFill>
              <a:latin typeface=" 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6719A4-39E0-4F67-39F1-F74B4555A104}"/>
              </a:ext>
            </a:extLst>
          </p:cNvPr>
          <p:cNvSpPr/>
          <p:nvPr/>
        </p:nvSpPr>
        <p:spPr>
          <a:xfrm>
            <a:off x="4896631" y="998012"/>
            <a:ext cx="5527968" cy="315325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55BAF5-AD21-E47C-D63C-B042F2103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9822" y="1083889"/>
            <a:ext cx="338485" cy="3430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Google Shape;1599;p61">
            <a:extLst>
              <a:ext uri="{FF2B5EF4-FFF2-40B4-BE49-F238E27FC236}">
                <a16:creationId xmlns:a16="http://schemas.microsoft.com/office/drawing/2014/main" id="{2A9F8D8B-302D-78FE-8D3B-0E0154F6D01E}"/>
              </a:ext>
            </a:extLst>
          </p:cNvPr>
          <p:cNvSpPr txBox="1"/>
          <p:nvPr/>
        </p:nvSpPr>
        <p:spPr>
          <a:xfrm>
            <a:off x="7635651" y="4151268"/>
            <a:ext cx="2788953" cy="1478167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defTabSz="457189">
              <a:spcAft>
                <a:spcPts val="600"/>
              </a:spcAft>
              <a:defRPr/>
            </a:pPr>
            <a:r>
              <a:rPr lang="en-US" sz="1200" b="1" u="sng" dirty="0">
                <a:solidFill>
                  <a:prstClr val="black"/>
                </a:solidFill>
                <a:latin typeface="Arial"/>
                <a:ea typeface="Arial"/>
                <a:cs typeface="Arial"/>
              </a:rPr>
              <a:t>POC &amp; Location Information:</a:t>
            </a:r>
          </a:p>
          <a:p>
            <a:pPr defTabSz="457189">
              <a:spcAft>
                <a:spcPts val="60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/>
                <a:ea typeface="Calibri"/>
                <a:cs typeface="Arial"/>
                <a:sym typeface="Arial"/>
              </a:rPr>
              <a:t>Holston POC:</a:t>
            </a:r>
          </a:p>
          <a:p>
            <a:pPr defTabSz="457189">
              <a:lnSpc>
                <a:spcPct val="1050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/>
                <a:ea typeface="Calibri"/>
                <a:cs typeface="Arial"/>
                <a:sym typeface="Arial"/>
              </a:rPr>
              <a:t>State Guard POC:</a:t>
            </a:r>
          </a:p>
          <a:p>
            <a:pPr defTabSz="457189">
              <a:lnSpc>
                <a:spcPct val="105000"/>
              </a:lnSpc>
              <a:defRPr/>
            </a:pPr>
            <a:endParaRPr lang="en-US" sz="1000" dirty="0">
              <a:solidFill>
                <a:prstClr val="black"/>
              </a:solidFill>
              <a:latin typeface="Arial"/>
              <a:ea typeface="Calibri"/>
              <a:cs typeface="Arial"/>
              <a:sym typeface="Arial"/>
            </a:endParaRPr>
          </a:p>
          <a:p>
            <a:pPr defTabSz="457189">
              <a:lnSpc>
                <a:spcPct val="105000"/>
              </a:lnSpc>
              <a:defRPr/>
            </a:pPr>
            <a:endParaRPr lang="en-US" sz="1000" dirty="0">
              <a:solidFill>
                <a:prstClr val="black"/>
              </a:solidFill>
              <a:latin typeface="Arial"/>
              <a:ea typeface="Calibri"/>
              <a:cs typeface="Arial"/>
              <a:sym typeface="Arial"/>
            </a:endParaRPr>
          </a:p>
        </p:txBody>
      </p:sp>
      <p:sp>
        <p:nvSpPr>
          <p:cNvPr id="9" name="Google Shape;1600;p61">
            <a:extLst>
              <a:ext uri="{FF2B5EF4-FFF2-40B4-BE49-F238E27FC236}">
                <a16:creationId xmlns:a16="http://schemas.microsoft.com/office/drawing/2014/main" id="{10B1C9B6-0DAF-3903-E4DC-D94BF3379BDB}"/>
              </a:ext>
            </a:extLst>
          </p:cNvPr>
          <p:cNvSpPr txBox="1"/>
          <p:nvPr/>
        </p:nvSpPr>
        <p:spPr>
          <a:xfrm>
            <a:off x="4896631" y="4162672"/>
            <a:ext cx="2739012" cy="147816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defTabSz="457189">
              <a:buClr>
                <a:srgbClr val="000000"/>
              </a:buClr>
              <a:buSzPts val="1200"/>
              <a:defRPr/>
            </a:pPr>
            <a:r>
              <a:rPr lang="en-US" sz="1200" b="1" u="sng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Timeline:</a:t>
            </a:r>
          </a:p>
          <a:p>
            <a:pPr defTabSz="457189">
              <a:buClr>
                <a:srgbClr val="000000"/>
              </a:buClr>
              <a:buSzPts val="1200"/>
              <a:defRPr/>
            </a:pPr>
            <a:r>
              <a:rPr lang="en-US" sz="1100" dirty="0">
                <a:solidFill>
                  <a:prstClr val="black"/>
                </a:solidFill>
                <a:latin typeface="Arial"/>
                <a:ea typeface="Calibri"/>
                <a:cs typeface="Arial"/>
                <a:sym typeface="Arial"/>
              </a:rPr>
              <a:t>13 MAY 2026  Attack begin HH:MM</a:t>
            </a:r>
          </a:p>
          <a:p>
            <a:pPr defTabSz="457189">
              <a:buClr>
                <a:srgbClr val="000000"/>
              </a:buClr>
              <a:buSzPts val="1200"/>
              <a:defRPr/>
            </a:pPr>
            <a:r>
              <a:rPr lang="en-US" sz="1100" dirty="0">
                <a:solidFill>
                  <a:prstClr val="black"/>
                </a:solidFill>
                <a:latin typeface="Arial"/>
                <a:ea typeface="Calibri"/>
                <a:cs typeface="Arial"/>
                <a:sym typeface="Arial"/>
              </a:rPr>
              <a:t>		ADVON / Establish ICP</a:t>
            </a:r>
          </a:p>
          <a:p>
            <a:pPr defTabSz="457189">
              <a:buClr>
                <a:srgbClr val="000000"/>
              </a:buClr>
              <a:buSzPts val="1200"/>
              <a:defRPr/>
            </a:pPr>
            <a:r>
              <a:rPr lang="en-US" sz="1100" dirty="0">
                <a:solidFill>
                  <a:prstClr val="black"/>
                </a:solidFill>
                <a:latin typeface="Arial"/>
                <a:ea typeface="Calibri"/>
                <a:cs typeface="Arial"/>
                <a:sym typeface="Arial"/>
              </a:rPr>
              <a:t>14 May 2026   Main day</a:t>
            </a:r>
          </a:p>
          <a:p>
            <a:pPr defTabSz="457189">
              <a:buClr>
                <a:srgbClr val="000000"/>
              </a:buClr>
              <a:buSzPts val="1200"/>
              <a:defRPr/>
            </a:pPr>
            <a:r>
              <a:rPr lang="en-US" sz="1100" dirty="0">
                <a:solidFill>
                  <a:prstClr val="black"/>
                </a:solidFill>
                <a:latin typeface="Arial"/>
                <a:ea typeface="Calibri"/>
                <a:cs typeface="Arial"/>
                <a:sym typeface="Arial"/>
              </a:rPr>
              <a:t>15 May 2026   Half day and AAR</a:t>
            </a:r>
            <a:endParaRPr lang="en-US" sz="900" dirty="0">
              <a:solidFill>
                <a:prstClr val="black"/>
              </a:solidFill>
              <a:latin typeface="Arial"/>
              <a:ea typeface="Calibri"/>
              <a:cs typeface="Arial"/>
              <a:sym typeface="Arial"/>
            </a:endParaRPr>
          </a:p>
          <a:p>
            <a:pPr defTabSz="457189">
              <a:buClr>
                <a:srgbClr val="000000"/>
              </a:buClr>
              <a:buSzPts val="1000"/>
              <a:defRPr/>
            </a:pPr>
            <a:endParaRPr lang="en-US" sz="900" dirty="0">
              <a:solidFill>
                <a:prstClr val="black"/>
              </a:solidFill>
              <a:latin typeface="Arial"/>
              <a:ea typeface="Calibri"/>
              <a:cs typeface="Arial" panose="020B0604020202020204" pitchFamily="34" charset="0"/>
            </a:endParaRPr>
          </a:p>
          <a:p>
            <a:pPr defTabSz="457189">
              <a:buClr>
                <a:srgbClr val="000000"/>
              </a:buClr>
              <a:buSzPts val="1000"/>
              <a:defRPr/>
            </a:pPr>
            <a:endParaRPr lang="en-US" sz="900" b="1" dirty="0">
              <a:solidFill>
                <a:prstClr val="black"/>
              </a:solidFill>
              <a:latin typeface="Arial"/>
              <a:ea typeface="Calibri"/>
              <a:cs typeface="Arial" panose="020B0604020202020204" pitchFamily="34" charset="0"/>
            </a:endParaRPr>
          </a:p>
          <a:p>
            <a:pPr defTabSz="457189">
              <a:buClr>
                <a:prstClr val="black"/>
              </a:buClr>
              <a:buSzPts val="1200"/>
              <a:defRPr/>
            </a:pPr>
            <a:endParaRPr sz="1000" dirty="0">
              <a:solidFill>
                <a:srgbClr val="000000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0" name="Google Shape;1604;p61">
            <a:extLst>
              <a:ext uri="{FF2B5EF4-FFF2-40B4-BE49-F238E27FC236}">
                <a16:creationId xmlns:a16="http://schemas.microsoft.com/office/drawing/2014/main" id="{89BE0BE5-14BA-1B85-1401-D7C521765054}"/>
              </a:ext>
            </a:extLst>
          </p:cNvPr>
          <p:cNvSpPr txBox="1"/>
          <p:nvPr/>
        </p:nvSpPr>
        <p:spPr>
          <a:xfrm>
            <a:off x="4896629" y="5640837"/>
            <a:ext cx="5527968" cy="1060599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defTabSz="653140">
              <a:buClr>
                <a:srgbClr val="000000"/>
              </a:buClr>
              <a:buSzPts val="1200"/>
              <a:defRPr/>
            </a:pPr>
            <a:r>
              <a:rPr lang="en-US" sz="1143" b="1" u="sng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Logistics &amp; Resources</a:t>
            </a:r>
            <a:r>
              <a:rPr lang="en-US" sz="1143" b="1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defTabSz="653140">
              <a:buClr>
                <a:srgbClr val="000000"/>
              </a:buClr>
              <a:buSzPts val="1200"/>
              <a:defRPr/>
            </a:pPr>
            <a:r>
              <a:rPr lang="en-US" sz="857" b="1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Food/Water:</a:t>
            </a:r>
            <a:r>
              <a:rPr lang="en-US" sz="857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857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All units are responsible for food and water for their personnel.</a:t>
            </a:r>
            <a:endParaRPr lang="en-US" sz="857" dirty="0">
              <a:solidFill>
                <a:prstClr val="black"/>
              </a:solidFill>
              <a:latin typeface="Arial"/>
              <a:ea typeface="Arial"/>
              <a:cs typeface="Arial"/>
            </a:endParaRPr>
          </a:p>
          <a:p>
            <a:pPr defTabSz="653140">
              <a:buClr>
                <a:srgbClr val="000000"/>
              </a:buClr>
              <a:buSzPts val="1200"/>
              <a:defRPr/>
            </a:pPr>
            <a:r>
              <a:rPr lang="en-US" sz="857" b="1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Lodging:</a:t>
            </a:r>
            <a:r>
              <a:rPr lang="en-US" sz="857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857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All units are responsible for lodging for their personnel, if needed.</a:t>
            </a:r>
            <a:endParaRPr lang="en-US" sz="857" dirty="0">
              <a:solidFill>
                <a:prstClr val="black"/>
              </a:solidFill>
              <a:latin typeface="Arial"/>
              <a:ea typeface="Arial"/>
              <a:cs typeface="Arial"/>
            </a:endParaRPr>
          </a:p>
          <a:p>
            <a:pPr defTabSz="653140">
              <a:buClr>
                <a:srgbClr val="000000"/>
              </a:buClr>
              <a:buSzPts val="1200"/>
              <a:defRPr/>
            </a:pPr>
            <a:r>
              <a:rPr lang="en-US" sz="857" b="1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Role Players:</a:t>
            </a:r>
            <a:r>
              <a:rPr lang="en-US" sz="857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lang="en-US" sz="857" dirty="0">
              <a:solidFill>
                <a:prstClr val="black"/>
              </a:solidFill>
              <a:latin typeface="Arial"/>
              <a:ea typeface="Arial"/>
              <a:cs typeface="Arial"/>
            </a:endParaRPr>
          </a:p>
          <a:p>
            <a:pPr defTabSz="435448">
              <a:buClr>
                <a:srgbClr val="000000"/>
              </a:buClr>
              <a:buSzPts val="1200"/>
              <a:defRPr/>
            </a:pPr>
            <a:r>
              <a:rPr lang="en-US" sz="857" b="1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Comms:</a:t>
            </a:r>
            <a:r>
              <a:rPr lang="en-US" sz="857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857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857" b="1" dirty="0">
                <a:solidFill>
                  <a:prstClr val="black"/>
                </a:solidFill>
                <a:latin typeface=" Arial"/>
                <a:ea typeface="Arial"/>
                <a:cs typeface="Arial"/>
                <a:sym typeface="Arial"/>
              </a:rPr>
              <a:t>TNNG: </a:t>
            </a:r>
            <a:r>
              <a:rPr lang="en-US" sz="857" b="1" i="1" u="sng" dirty="0">
                <a:solidFill>
                  <a:prstClr val="black"/>
                </a:solidFill>
                <a:highlight>
                  <a:srgbClr val="FFFF00"/>
                </a:highlight>
                <a:latin typeface=" Arial"/>
                <a:ea typeface="Arial"/>
                <a:cs typeface="Arial"/>
                <a:sym typeface="Arial"/>
              </a:rPr>
              <a:t>P:</a:t>
            </a:r>
            <a:r>
              <a:rPr lang="en-US" sz="857" b="1" i="1" dirty="0">
                <a:solidFill>
                  <a:prstClr val="black"/>
                </a:solidFill>
                <a:highlight>
                  <a:srgbClr val="FFFF00"/>
                </a:highlight>
                <a:latin typeface=" Arial"/>
                <a:ea typeface="Arial"/>
                <a:cs typeface="Arial"/>
                <a:sym typeface="Arial"/>
              </a:rPr>
              <a:t> </a:t>
            </a:r>
            <a:r>
              <a:rPr lang="en-US" sz="857" dirty="0">
                <a:solidFill>
                  <a:prstClr val="black"/>
                </a:solidFill>
                <a:highlight>
                  <a:srgbClr val="FFFF00"/>
                </a:highlight>
                <a:latin typeface=" Arial"/>
                <a:ea typeface="Arial"/>
                <a:cs typeface="Arial"/>
                <a:sym typeface="Arial"/>
              </a:rPr>
              <a:t>TACN; </a:t>
            </a:r>
            <a:r>
              <a:rPr lang="en-US" sz="857" b="1" i="1" u="sng" dirty="0">
                <a:solidFill>
                  <a:prstClr val="black"/>
                </a:solidFill>
                <a:highlight>
                  <a:srgbClr val="FFFF00"/>
                </a:highlight>
                <a:latin typeface=" Arial"/>
                <a:ea typeface="Arial"/>
                <a:cs typeface="Arial"/>
                <a:sym typeface="Arial"/>
              </a:rPr>
              <a:t>A</a:t>
            </a:r>
            <a:r>
              <a:rPr lang="en-US" sz="857" b="1" i="1" dirty="0">
                <a:solidFill>
                  <a:prstClr val="black"/>
                </a:solidFill>
                <a:highlight>
                  <a:srgbClr val="FFFF00"/>
                </a:highlight>
                <a:latin typeface=" Arial"/>
                <a:ea typeface="Arial"/>
                <a:cs typeface="Arial"/>
                <a:sym typeface="Arial"/>
              </a:rPr>
              <a:t>: </a:t>
            </a:r>
            <a:r>
              <a:rPr lang="en-US" sz="857" dirty="0">
                <a:solidFill>
                  <a:prstClr val="black"/>
                </a:solidFill>
                <a:highlight>
                  <a:srgbClr val="FFFF00"/>
                </a:highlight>
                <a:latin typeface=" Arial"/>
                <a:ea typeface="Arial"/>
                <a:cs typeface="Arial"/>
                <a:sym typeface="Arial"/>
              </a:rPr>
              <a:t>FirstNet </a:t>
            </a:r>
            <a:r>
              <a:rPr lang="en-US" sz="857" dirty="0" err="1">
                <a:solidFill>
                  <a:prstClr val="black"/>
                </a:solidFill>
                <a:highlight>
                  <a:srgbClr val="FFFF00"/>
                </a:highlight>
                <a:latin typeface=" Arial"/>
                <a:ea typeface="Arial"/>
                <a:cs typeface="Arial"/>
                <a:sym typeface="Arial"/>
              </a:rPr>
              <a:t>ePTT</a:t>
            </a:r>
            <a:r>
              <a:rPr lang="en-US" sz="857" dirty="0">
                <a:solidFill>
                  <a:prstClr val="black"/>
                </a:solidFill>
                <a:highlight>
                  <a:srgbClr val="FFFF00"/>
                </a:highlight>
                <a:latin typeface=" Arial"/>
                <a:ea typeface="Arial"/>
                <a:cs typeface="Arial"/>
                <a:sym typeface="Arial"/>
              </a:rPr>
              <a:t>; </a:t>
            </a:r>
            <a:r>
              <a:rPr lang="en-US" sz="857" b="1" i="1" u="sng" dirty="0">
                <a:solidFill>
                  <a:prstClr val="black"/>
                </a:solidFill>
                <a:highlight>
                  <a:srgbClr val="FFFF00"/>
                </a:highlight>
                <a:latin typeface=" Arial"/>
                <a:ea typeface="Arial"/>
                <a:cs typeface="Arial"/>
                <a:sym typeface="Arial"/>
              </a:rPr>
              <a:t>C:</a:t>
            </a:r>
            <a:r>
              <a:rPr lang="en-US" sz="857" b="1" i="1" dirty="0">
                <a:solidFill>
                  <a:prstClr val="black"/>
                </a:solidFill>
                <a:highlight>
                  <a:srgbClr val="FFFF00"/>
                </a:highlight>
                <a:latin typeface=" Arial"/>
                <a:ea typeface="Arial"/>
                <a:cs typeface="Arial"/>
                <a:sym typeface="Arial"/>
              </a:rPr>
              <a:t> </a:t>
            </a:r>
            <a:r>
              <a:rPr lang="en-US" sz="857" dirty="0">
                <a:solidFill>
                  <a:prstClr val="black"/>
                </a:solidFill>
                <a:highlight>
                  <a:srgbClr val="FFFF00"/>
                </a:highlight>
                <a:latin typeface=" Arial"/>
                <a:ea typeface="Arial"/>
                <a:cs typeface="Arial"/>
                <a:sym typeface="Arial"/>
              </a:rPr>
              <a:t>Cell Phone; </a:t>
            </a:r>
            <a:r>
              <a:rPr lang="en-US" sz="857" b="1" i="1" u="sng" dirty="0">
                <a:solidFill>
                  <a:prstClr val="black"/>
                </a:solidFill>
                <a:highlight>
                  <a:srgbClr val="FFFF00"/>
                </a:highlight>
                <a:latin typeface=" Arial"/>
                <a:ea typeface="Arial"/>
                <a:cs typeface="Arial"/>
                <a:sym typeface="Arial"/>
              </a:rPr>
              <a:t>E:</a:t>
            </a:r>
            <a:r>
              <a:rPr lang="en-US" sz="857" b="1" i="1" dirty="0">
                <a:solidFill>
                  <a:prstClr val="black"/>
                </a:solidFill>
                <a:highlight>
                  <a:srgbClr val="FFFF00"/>
                </a:highlight>
                <a:latin typeface=" Arial"/>
                <a:ea typeface="Arial"/>
                <a:cs typeface="Arial"/>
                <a:sym typeface="Arial"/>
              </a:rPr>
              <a:t> </a:t>
            </a:r>
            <a:r>
              <a:rPr lang="en-US" sz="857" dirty="0">
                <a:solidFill>
                  <a:prstClr val="black"/>
                </a:solidFill>
                <a:highlight>
                  <a:srgbClr val="FFFF00"/>
                </a:highlight>
                <a:latin typeface=" Arial"/>
                <a:ea typeface="Arial"/>
                <a:cs typeface="Arial"/>
                <a:sym typeface="Arial"/>
              </a:rPr>
              <a:t>Satellite Phone</a:t>
            </a:r>
            <a:r>
              <a:rPr lang="en-US" sz="857" b="1" dirty="0">
                <a:solidFill>
                  <a:prstClr val="black"/>
                </a:solidFill>
                <a:highlight>
                  <a:srgbClr val="FFFF00"/>
                </a:highlight>
                <a:latin typeface=" Arial"/>
                <a:ea typeface="Arial"/>
                <a:cs typeface="Arial"/>
                <a:sym typeface="Arial"/>
              </a:rPr>
              <a:t>; </a:t>
            </a:r>
            <a:r>
              <a:rPr lang="en-US" sz="857" b="1" dirty="0">
                <a:solidFill>
                  <a:prstClr val="black"/>
                </a:solidFill>
                <a:latin typeface=" Arial"/>
                <a:ea typeface="Arial"/>
                <a:cs typeface="Arial"/>
                <a:sym typeface="Arial"/>
              </a:rPr>
              <a:t>JISCC  </a:t>
            </a:r>
            <a:endParaRPr lang="en-US" sz="857" dirty="0">
              <a:solidFill>
                <a:prstClr val="black"/>
              </a:solidFill>
              <a:latin typeface=" Arial"/>
              <a:ea typeface="Arial"/>
              <a:cs typeface="Arial"/>
              <a:sym typeface="Arial"/>
            </a:endParaRPr>
          </a:p>
          <a:p>
            <a:pPr defTabSz="653140">
              <a:buClr>
                <a:srgbClr val="000000"/>
              </a:buClr>
              <a:buSzPts val="1200"/>
              <a:defRPr/>
            </a:pPr>
            <a:r>
              <a:rPr lang="en-US" sz="857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r>
              <a:rPr lang="en-US" sz="857" b="1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857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 Provided by SG</a:t>
            </a:r>
            <a:endParaRPr lang="en-US" sz="857" dirty="0">
              <a:solidFill>
                <a:prstClr val="black"/>
              </a:solidFill>
              <a:latin typeface="Arial"/>
              <a:ea typeface="Arial"/>
              <a:cs typeface="Arial"/>
            </a:endParaRPr>
          </a:p>
          <a:p>
            <a:pPr defTabSz="653140">
              <a:buSzPts val="1200"/>
              <a:defRPr/>
            </a:pPr>
            <a:r>
              <a:rPr lang="en-US" sz="857" b="1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Medical:</a:t>
            </a:r>
            <a:r>
              <a:rPr lang="en-US" sz="857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 Provided by SG</a:t>
            </a:r>
            <a:endParaRPr lang="en-US" sz="857" dirty="0"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Google Shape;1599;p61">
            <a:extLst>
              <a:ext uri="{FF2B5EF4-FFF2-40B4-BE49-F238E27FC236}">
                <a16:creationId xmlns:a16="http://schemas.microsoft.com/office/drawing/2014/main" id="{0F062CEA-3A33-AC4C-09D9-7A788E47F938}"/>
              </a:ext>
            </a:extLst>
          </p:cNvPr>
          <p:cNvSpPr txBox="1"/>
          <p:nvPr/>
        </p:nvSpPr>
        <p:spPr>
          <a:xfrm>
            <a:off x="1767402" y="1000864"/>
            <a:ext cx="3129228" cy="1976952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defTabSz="457189">
              <a:lnSpc>
                <a:spcPct val="120000"/>
              </a:lnSpc>
              <a:spcAft>
                <a:spcPts val="600"/>
              </a:spcAft>
              <a:defRPr/>
            </a:pPr>
            <a:r>
              <a:rPr lang="en-US" sz="1300" b="1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Scenario</a:t>
            </a:r>
            <a:r>
              <a:rPr lang="en-US" sz="13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Military installation in TN has been attacked during the Natural Disaster and limited resources are available. </a:t>
            </a:r>
            <a:endParaRPr lang="en-US" sz="13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defTabSz="457189">
              <a:lnSpc>
                <a:spcPct val="105000"/>
              </a:lnSpc>
              <a:defRPr/>
            </a:pPr>
            <a:r>
              <a:rPr lang="en-US" sz="1300" b="1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Triggers / Artificialities / Simulation</a:t>
            </a:r>
            <a:r>
              <a:rPr lang="en-US" sz="13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defTabSz="457189">
              <a:lnSpc>
                <a:spcPct val="120000"/>
              </a:lnSpc>
              <a:spcAft>
                <a:spcPts val="600"/>
              </a:spcAft>
              <a:defRPr/>
            </a:pPr>
            <a:r>
              <a:rPr lang="en-US" sz="1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Limited resources to Support MOU / MOAs triggers request for support through DCO / DCE which ultimately leads to Fed tasking state to support.</a:t>
            </a:r>
          </a:p>
          <a:p>
            <a:pPr defTabSz="457189">
              <a:lnSpc>
                <a:spcPct val="120000"/>
              </a:lnSpc>
              <a:spcAft>
                <a:spcPts val="600"/>
              </a:spcAft>
              <a:defRPr/>
            </a:pPr>
            <a:r>
              <a:rPr lang="en-US" sz="13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- HAAP contact Local EMA, EMA contact TEMA, TEMA contact NG.</a:t>
            </a:r>
          </a:p>
          <a:p>
            <a:pPr defTabSz="457189">
              <a:lnSpc>
                <a:spcPct val="120000"/>
              </a:lnSpc>
              <a:spcAft>
                <a:spcPts val="600"/>
              </a:spcAft>
              <a:defRPr/>
            </a:pPr>
            <a:r>
              <a:rPr lang="en-US" sz="13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- Test drone system.  </a:t>
            </a:r>
          </a:p>
          <a:p>
            <a:pPr defTabSz="457189">
              <a:lnSpc>
                <a:spcPct val="120000"/>
              </a:lnSpc>
              <a:spcAft>
                <a:spcPts val="600"/>
              </a:spcAft>
              <a:defRPr/>
            </a:pPr>
            <a:r>
              <a:rPr lang="en-US" sz="13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- Commander’s approval for Drone use.</a:t>
            </a:r>
          </a:p>
          <a:p>
            <a:pPr defTabSz="457189">
              <a:lnSpc>
                <a:spcPct val="105000"/>
              </a:lnSpc>
              <a:defRPr/>
            </a:pPr>
            <a:r>
              <a:rPr lang="en-US" sz="1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</a:p>
        </p:txBody>
      </p:sp>
      <p:graphicFrame>
        <p:nvGraphicFramePr>
          <p:cNvPr id="14" name="Google Shape;1603;p61">
            <a:extLst>
              <a:ext uri="{FF2B5EF4-FFF2-40B4-BE49-F238E27FC236}">
                <a16:creationId xmlns:a16="http://schemas.microsoft.com/office/drawing/2014/main" id="{F0A4F7DA-2292-413B-47D0-535E9D849E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6264513"/>
              </p:ext>
            </p:extLst>
          </p:nvPr>
        </p:nvGraphicFramePr>
        <p:xfrm>
          <a:off x="1767395" y="2961278"/>
          <a:ext cx="3129229" cy="142624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19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021">
                  <a:extLst>
                    <a:ext uri="{9D8B030D-6E8A-4147-A177-3AD203B41FA5}">
                      <a16:colId xmlns:a16="http://schemas.microsoft.com/office/drawing/2014/main" val="1908897264"/>
                    </a:ext>
                  </a:extLst>
                </a:gridCol>
                <a:gridCol w="495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8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Participants</a:t>
                      </a:r>
                      <a:endParaRPr sz="1200" b="1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VICs / Equipment</a:t>
                      </a:r>
                      <a:endParaRPr sz="900" b="1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45725" marB="457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PAX</a:t>
                      </a:r>
                      <a:endParaRPr sz="9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1" marR="91451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06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Holston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1644720"/>
                  </a:ext>
                </a:extLst>
              </a:tr>
              <a:tr h="20313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State Guard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0" marB="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5 / 4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??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13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JABS / J6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0" marB="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388428"/>
                  </a:ext>
                </a:extLst>
              </a:tr>
              <a:tr h="20313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PAO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0" marB="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99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0" marB="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15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24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Google Shape;1602;p61">
            <a:extLst>
              <a:ext uri="{FF2B5EF4-FFF2-40B4-BE49-F238E27FC236}">
                <a16:creationId xmlns:a16="http://schemas.microsoft.com/office/drawing/2014/main" id="{FB7C3221-610E-4A53-A775-4F8102833A5A}"/>
              </a:ext>
            </a:extLst>
          </p:cNvPr>
          <p:cNvSpPr txBox="1"/>
          <p:nvPr/>
        </p:nvSpPr>
        <p:spPr>
          <a:xfrm>
            <a:off x="1767398" y="4441590"/>
            <a:ext cx="3129229" cy="2279071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defTabSz="457189">
              <a:buClr>
                <a:srgbClr val="000000"/>
              </a:buClr>
              <a:buSzPts val="1200"/>
              <a:defRPr/>
            </a:pPr>
            <a:r>
              <a:rPr lang="en-US" sz="1300" b="1" u="sng" dirty="0">
                <a:solidFill>
                  <a:prstClr val="black"/>
                </a:solidFill>
                <a:latin typeface=" Arial"/>
                <a:cs typeface="Calibri"/>
              </a:rPr>
              <a:t>Objectives:</a:t>
            </a:r>
          </a:p>
          <a:p>
            <a:pPr marL="168275" indent="-168275" defTabSz="457189">
              <a:buClr>
                <a:srgbClr val="000000"/>
              </a:buClr>
              <a:buSzPts val="1200"/>
              <a:buFont typeface="+mj-lt"/>
              <a:buAutoNum type="arabicPeriod"/>
              <a:defRPr/>
            </a:pPr>
            <a:r>
              <a:rPr lang="en-US" sz="1200" dirty="0">
                <a:solidFill>
                  <a:prstClr val="black"/>
                </a:solidFill>
                <a:latin typeface=" Arial"/>
                <a:cs typeface="Calibri"/>
              </a:rPr>
              <a:t>Exercise the TERP (Tennessee Emergency Response Plan) HD Annex</a:t>
            </a:r>
          </a:p>
          <a:p>
            <a:pPr marL="168275" indent="-168275" defTabSz="457189">
              <a:buClr>
                <a:srgbClr val="000000"/>
              </a:buClr>
              <a:buSzPts val="1200"/>
              <a:buFont typeface="+mj-lt"/>
              <a:buAutoNum type="arabicPeriod"/>
              <a:defRPr/>
            </a:pPr>
            <a:r>
              <a:rPr lang="en-US" sz="1200" dirty="0">
                <a:solidFill>
                  <a:prstClr val="black"/>
                </a:solidFill>
                <a:latin typeface=" Arial"/>
                <a:cs typeface="Calibri"/>
              </a:rPr>
              <a:t>Establish ICP</a:t>
            </a:r>
          </a:p>
          <a:p>
            <a:pPr marL="168275" indent="-168275" defTabSz="457189">
              <a:buClr>
                <a:srgbClr val="000000"/>
              </a:buClr>
              <a:buSzPts val="1200"/>
              <a:buFont typeface="+mj-lt"/>
              <a:buAutoNum type="arabicPeriod"/>
              <a:defRPr/>
            </a:pPr>
            <a:r>
              <a:rPr lang="en-US" sz="1200" dirty="0">
                <a:solidFill>
                  <a:prstClr val="black"/>
                </a:solidFill>
                <a:latin typeface=" Arial"/>
                <a:cs typeface="Calibri"/>
              </a:rPr>
              <a:t>Coordinate with Holston EMA</a:t>
            </a:r>
          </a:p>
          <a:p>
            <a:pPr marL="168275" indent="-168275" defTabSz="457189">
              <a:buClr>
                <a:srgbClr val="000000"/>
              </a:buClr>
              <a:buSzPts val="1200"/>
              <a:buFont typeface="+mj-lt"/>
              <a:buAutoNum type="arabicPeriod"/>
              <a:defRPr/>
            </a:pPr>
            <a:r>
              <a:rPr lang="en-US" sz="1200" dirty="0">
                <a:solidFill>
                  <a:prstClr val="black"/>
                </a:solidFill>
                <a:latin typeface=" Arial"/>
                <a:cs typeface="Calibri"/>
              </a:rPr>
              <a:t>Test HAAP drone system and drone approval process.</a:t>
            </a:r>
          </a:p>
          <a:p>
            <a:pPr marL="168275" indent="-168275" defTabSz="457189">
              <a:buClr>
                <a:srgbClr val="000000"/>
              </a:buClr>
              <a:buSzPts val="1200"/>
              <a:buFont typeface="+mj-lt"/>
              <a:buAutoNum type="arabicPeriod"/>
              <a:defRPr/>
            </a:pPr>
            <a:r>
              <a:rPr lang="en-US" sz="1200" dirty="0">
                <a:solidFill>
                  <a:prstClr val="black"/>
                </a:solidFill>
                <a:latin typeface=" Arial"/>
                <a:cs typeface="Calibri"/>
              </a:rPr>
              <a:t>CSDA  TTX </a:t>
            </a:r>
          </a:p>
          <a:p>
            <a:pPr marL="285750" indent="-117475" defTabSz="457189"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 Arial"/>
                <a:cs typeface="Calibri"/>
              </a:rPr>
              <a:t>Perimeter security, parking lot security</a:t>
            </a:r>
          </a:p>
          <a:p>
            <a:pPr marL="285750" indent="-117475" defTabSz="457189"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 Arial"/>
                <a:cs typeface="Calibri"/>
              </a:rPr>
              <a:t>Base entrance inject</a:t>
            </a:r>
          </a:p>
          <a:p>
            <a:pPr marL="285750" indent="-117475" defTabSz="457189"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 Arial"/>
                <a:cs typeface="Calibri"/>
              </a:rPr>
              <a:t>Protection of Water way: Netherland Park.  </a:t>
            </a:r>
          </a:p>
          <a:p>
            <a:pPr defTabSz="457189">
              <a:buClr>
                <a:srgbClr val="000000"/>
              </a:buClr>
              <a:buSzPts val="1200"/>
              <a:defRPr/>
            </a:pPr>
            <a:endParaRPr lang="en-US" sz="1300" dirty="0">
              <a:solidFill>
                <a:prstClr val="black"/>
              </a:solidFill>
              <a:latin typeface=" Arial"/>
              <a:cs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755F08-DF97-27D5-0A60-186859E7719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-6199"/>
            <a:ext cx="9144000" cy="10407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58EE929-F35B-1638-22F7-4E49E7337F3E}"/>
              </a:ext>
            </a:extLst>
          </p:cNvPr>
          <p:cNvSpPr txBox="1"/>
          <p:nvPr/>
        </p:nvSpPr>
        <p:spPr>
          <a:xfrm>
            <a:off x="4707809" y="195649"/>
            <a:ext cx="3293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HD Working Group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D19950E-DE1B-AFAB-F401-200F7DCCB1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627" y="998010"/>
            <a:ext cx="5527970" cy="313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116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270</Words>
  <Application>Microsoft Office PowerPoint</Application>
  <PresentationFormat>Widescreen</PresentationFormat>
  <Paragraphs>53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 Arial</vt:lpstr>
      <vt:lpstr>Aptos</vt:lpstr>
      <vt:lpstr>Aptos Display</vt:lpstr>
      <vt:lpstr>Arial</vt:lpstr>
      <vt:lpstr>Calibri</vt:lpstr>
      <vt:lpstr>Office Theme</vt:lpstr>
      <vt:lpstr>Working Group Slide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Sheaf</dc:creator>
  <cp:lastModifiedBy>John Sheaf</cp:lastModifiedBy>
  <cp:revision>3</cp:revision>
  <dcterms:created xsi:type="dcterms:W3CDTF">2026-04-10T12:14:31Z</dcterms:created>
  <dcterms:modified xsi:type="dcterms:W3CDTF">2026-04-10T12:17:51Z</dcterms:modified>
</cp:coreProperties>
</file>