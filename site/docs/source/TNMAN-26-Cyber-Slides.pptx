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0"/>
  </p:notesMasterIdLst>
  <p:handoutMasterIdLst>
    <p:handoutMasterId r:id="rId11"/>
  </p:handoutMasterIdLst>
  <p:sldIdLst>
    <p:sldId id="1741" r:id="rId5"/>
    <p:sldId id="1747" r:id="rId6"/>
    <p:sldId id="1748" r:id="rId7"/>
    <p:sldId id="1749" r:id="rId8"/>
    <p:sldId id="1746" r:id="rId9"/>
  </p:sldIdLst>
  <p:sldSz cx="9144000" cy="6858000" type="screen4x3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owers, Justin D SSG USARMY NG TNARNG (USA)" initials="PJDSUNT(" lastIdx="4" clrIdx="0">
    <p:extLst>
      <p:ext uri="{19B8F6BF-5375-455C-9EA6-DF929625EA0E}">
        <p15:presenceInfo xmlns:p15="http://schemas.microsoft.com/office/powerpoint/2012/main" userId="Powers, Justin D SSG USARMY NG TNARNG (USA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303F"/>
    <a:srgbClr val="962021"/>
    <a:srgbClr val="F19187"/>
    <a:srgbClr val="B30D0D"/>
    <a:srgbClr val="00CC00"/>
    <a:srgbClr val="3A5262"/>
    <a:srgbClr val="EAEFF7"/>
    <a:srgbClr val="D2DEEF"/>
    <a:srgbClr val="E3CAFE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46" y="-3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53" tIns="48327" rIns="96653" bIns="48327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53" tIns="48327" rIns="96653" bIns="48327" rtlCol="0"/>
          <a:lstStyle>
            <a:lvl1pPr algn="r">
              <a:defRPr sz="1200"/>
            </a:lvl1pPr>
          </a:lstStyle>
          <a:p>
            <a:fld id="{8D490717-49B1-4EB0-8490-D023854ECD01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475"/>
            <a:ext cx="3169920" cy="481726"/>
          </a:xfrm>
          <a:prstGeom prst="rect">
            <a:avLst/>
          </a:prstGeom>
        </p:spPr>
        <p:txBody>
          <a:bodyPr vert="horz" lIns="96653" tIns="48327" rIns="96653" bIns="48327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7" y="9119475"/>
            <a:ext cx="3169920" cy="481726"/>
          </a:xfrm>
          <a:prstGeom prst="rect">
            <a:avLst/>
          </a:prstGeom>
        </p:spPr>
        <p:txBody>
          <a:bodyPr vert="horz" lIns="96653" tIns="48327" rIns="96653" bIns="48327" rtlCol="0" anchor="b"/>
          <a:lstStyle>
            <a:lvl1pPr algn="r">
              <a:defRPr sz="1200"/>
            </a:lvl1pPr>
          </a:lstStyle>
          <a:p>
            <a:fld id="{95ADDCAE-7F50-4938-AF5E-4A62CDE41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99395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53" tIns="48327" rIns="96653" bIns="48327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53" tIns="48327" rIns="96653" bIns="48327" rtlCol="0"/>
          <a:lstStyle>
            <a:lvl1pPr algn="r">
              <a:defRPr sz="1200"/>
            </a:lvl1pPr>
          </a:lstStyle>
          <a:p>
            <a:fld id="{8E2B6425-F07D-4653-8B85-B8586DB874DA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97013" y="1200150"/>
            <a:ext cx="4321175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53" tIns="48327" rIns="96653" bIns="48327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53" tIns="48327" rIns="96653" bIns="48327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5"/>
            <a:ext cx="3169920" cy="481726"/>
          </a:xfrm>
          <a:prstGeom prst="rect">
            <a:avLst/>
          </a:prstGeom>
        </p:spPr>
        <p:txBody>
          <a:bodyPr vert="horz" lIns="96653" tIns="48327" rIns="96653" bIns="48327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5"/>
            <a:ext cx="3169920" cy="481726"/>
          </a:xfrm>
          <a:prstGeom prst="rect">
            <a:avLst/>
          </a:prstGeom>
        </p:spPr>
        <p:txBody>
          <a:bodyPr vert="horz" lIns="96653" tIns="48327" rIns="96653" bIns="48327" rtlCol="0" anchor="b"/>
          <a:lstStyle>
            <a:lvl1pPr algn="r">
              <a:defRPr sz="1200"/>
            </a:lvl1pPr>
          </a:lstStyle>
          <a:p>
            <a:fld id="{60DBC37D-BADE-44F5-B140-1EAED012E8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86078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49529-D105-E227-2491-73E0218B3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358D3A-7B5D-C90C-6687-46C0DCE663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E0C27A-E004-30AD-AAB7-888BF50EE6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57269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F304E-7380-A72C-3D10-131C10679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29ABF9-24C5-F970-A9C6-797A2775B8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3ED8B4-7A6E-BD53-AF9D-7AD8D7D77F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7059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 Arial"/>
              </a:defRPr>
            </a:lvl1pPr>
          </a:lstStyle>
          <a:p>
            <a:r>
              <a:rPr lang="en-US"/>
              <a:t>5/1/2020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EXERCISE                                                                  EXERCISE                                                                        EXERCISE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 Arial"/>
              </a:defRPr>
            </a:lvl1pPr>
          </a:lstStyle>
          <a:p>
            <a:fld id="{6AC25671-793B-43FD-9287-2D5C3F89EA5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8943B57F-05EF-4B96-9852-E5ECDA515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23076"/>
            <a:ext cx="7886700" cy="1325563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 algn="ctr"/>
            <a:r>
              <a:rPr lang="en-US" sz="3600">
                <a:solidFill>
                  <a:schemeClr val="bg1"/>
                </a:solidFill>
                <a:latin typeface="Arial"/>
                <a:cs typeface="Arial"/>
              </a:rPr>
              <a:t>Agenda</a:t>
            </a:r>
            <a:endParaRPr lang="en-US" sz="3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8935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213777"/>
            <a:ext cx="78867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5/1/2020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25671-793B-43FD-9287-2D5C3F89EA5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8943B57F-05EF-4B96-9852-E5ECDA515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23076"/>
            <a:ext cx="7886700" cy="1325563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 algn="ctr"/>
            <a:r>
              <a:rPr lang="en-US" sz="3600">
                <a:solidFill>
                  <a:schemeClr val="bg1"/>
                </a:solidFill>
                <a:latin typeface="Arial"/>
                <a:cs typeface="Arial"/>
              </a:rPr>
              <a:t>Agenda</a:t>
            </a:r>
            <a:endParaRPr lang="en-US" sz="3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0924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latin typeface=" 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5/1/2020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UNCLASSIFIED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25671-793B-43FD-9287-2D5C3F89EA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919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5/1/2020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UNCLASSIFIED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25671-793B-43FD-9287-2D5C3F89EA5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8943B57F-05EF-4B96-9852-E5ECDA515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23076"/>
            <a:ext cx="7886700" cy="1325563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 algn="ctr"/>
            <a:r>
              <a:rPr lang="en-US" sz="3600">
                <a:solidFill>
                  <a:schemeClr val="bg1"/>
                </a:solidFill>
                <a:latin typeface="Arial"/>
                <a:cs typeface="Arial"/>
              </a:rPr>
              <a:t>Agenda</a:t>
            </a:r>
            <a:endParaRPr lang="en-US" sz="3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7834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5/1/2020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UNCLASSIFIED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25671-793B-43FD-9287-2D5C3F89EA5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8943B57F-05EF-4B96-9852-E5ECDA515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23076"/>
            <a:ext cx="7886700" cy="1325563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 algn="ctr"/>
            <a:r>
              <a:rPr lang="en-US" sz="3600">
                <a:solidFill>
                  <a:schemeClr val="bg1"/>
                </a:solidFill>
                <a:latin typeface="Arial"/>
                <a:cs typeface="Arial"/>
              </a:rPr>
              <a:t>Agenda</a:t>
            </a:r>
            <a:endParaRPr lang="en-US" sz="3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8592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5/1/2020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UNCLASSIFIED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25671-793B-43FD-9287-2D5C3F89EA5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8943B57F-05EF-4B96-9852-E5ECDA515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23076"/>
            <a:ext cx="7886700" cy="1325563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 algn="ctr"/>
            <a:r>
              <a:rPr lang="en-US" sz="3600">
                <a:solidFill>
                  <a:schemeClr val="bg1"/>
                </a:solidFill>
                <a:latin typeface="Arial"/>
                <a:cs typeface="Arial"/>
              </a:rPr>
              <a:t>Agenda</a:t>
            </a:r>
            <a:endParaRPr lang="en-US" sz="3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0182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5/1/2020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UNCLASSIFIED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25671-793B-43FD-9287-2D5C3F89EA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559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latin typeface=" 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5/1/2020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UNCLASSIFIED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25671-793B-43FD-9287-2D5C3F89EA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953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5/1/2020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00B050"/>
                </a:solidFill>
              </a:defRPr>
            </a:lvl1pPr>
          </a:lstStyle>
          <a:p>
            <a:r>
              <a:rPr lang="en-US"/>
              <a:t>UNCLASSIFIED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 Arial"/>
              </a:defRPr>
            </a:lvl1pPr>
          </a:lstStyle>
          <a:p>
            <a:fld id="{6AC25671-793B-43FD-9287-2D5C3F89EA5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199"/>
            <a:ext cx="9144000" cy="1040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340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 Arial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 Arial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 Arial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 Arial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 Arial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David.l.west@tn.gov" TargetMode="External"/><Relationship Id="rId5" Type="http://schemas.openxmlformats.org/officeDocument/2006/relationships/hyperlink" Target="mailto:bgard1@utk.edu" TargetMode="External"/><Relationship Id="rId4" Type="http://schemas.openxmlformats.org/officeDocument/2006/relationships/hyperlink" Target="mailto:lindseymg@ornl.gov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mailto:trinity.r.callison.mil@army.mil" TargetMode="External"/><Relationship Id="rId3" Type="http://schemas.openxmlformats.org/officeDocument/2006/relationships/hyperlink" Target="mailto:Ryan.Schwartz@tn.gov" TargetMode="External"/><Relationship Id="rId7" Type="http://schemas.openxmlformats.org/officeDocument/2006/relationships/hyperlink" Target="mailto:gabriel.f.sussman.mil@army.mil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hyperlink" Target="mailto:Todd.Jones@tn.gov" TargetMode="External"/><Relationship Id="rId11" Type="http://schemas.openxmlformats.org/officeDocument/2006/relationships/image" Target="../media/image3.png"/><Relationship Id="rId5" Type="http://schemas.openxmlformats.org/officeDocument/2006/relationships/hyperlink" Target="mailto:Matthew.Heckard@tn.gov" TargetMode="External"/><Relationship Id="rId10" Type="http://schemas.openxmlformats.org/officeDocument/2006/relationships/hyperlink" Target="mailto:dallas.c.clements.mil@army.mil" TargetMode="External"/><Relationship Id="rId4" Type="http://schemas.openxmlformats.org/officeDocument/2006/relationships/hyperlink" Target="mailto:Tatiana.DiSalvo@tn.gov" TargetMode="External"/><Relationship Id="rId9" Type="http://schemas.openxmlformats.org/officeDocument/2006/relationships/hyperlink" Target="mailto:kristin.k.crandall.mil@army.mi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1AA9C-A5E8-3FF6-C54A-52B4C716E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8FC54888-7A24-DDB0-D5EF-1623167C8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23076"/>
            <a:ext cx="7886700" cy="583794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Arial"/>
                <a:cs typeface="Arial"/>
              </a:rPr>
              <a:t>Cyber WG</a:t>
            </a:r>
            <a:endParaRPr lang="en-US" sz="3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C38E91-53D9-138F-B5E8-DFB613FEB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6AC25671-793B-43FD-9287-2D5C3F89EA5F}" type="slidenum">
              <a:rPr lang="en-US">
                <a:solidFill>
                  <a:prstClr val="black">
                    <a:tint val="75000"/>
                  </a:prstClr>
                </a:solidFill>
              </a:rPr>
              <a:pPr defTabSz="457200"/>
              <a:t>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E395C0E-6B12-9ACF-BF27-DD29D0933F54}"/>
              </a:ext>
            </a:extLst>
          </p:cNvPr>
          <p:cNvSpPr/>
          <p:nvPr/>
        </p:nvSpPr>
        <p:spPr>
          <a:xfrm>
            <a:off x="3372631" y="998010"/>
            <a:ext cx="5527968" cy="3153254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155F47-937F-EB4C-7CE6-2779FE956B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5820" y="1083887"/>
            <a:ext cx="338485" cy="34303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Google Shape;1599;p61">
            <a:extLst>
              <a:ext uri="{FF2B5EF4-FFF2-40B4-BE49-F238E27FC236}">
                <a16:creationId xmlns:a16="http://schemas.microsoft.com/office/drawing/2014/main" id="{E80D6193-7395-B1B4-C9B8-256F389BA795}"/>
              </a:ext>
            </a:extLst>
          </p:cNvPr>
          <p:cNvSpPr txBox="1"/>
          <p:nvPr/>
        </p:nvSpPr>
        <p:spPr>
          <a:xfrm>
            <a:off x="6111648" y="4151266"/>
            <a:ext cx="2788953" cy="1478167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defTabSz="457200">
              <a:lnSpc>
                <a:spcPct val="105000"/>
              </a:lnSpc>
              <a:defRPr/>
            </a:pPr>
            <a:r>
              <a:rPr lang="en-US" sz="1200" b="1" u="sng" dirty="0">
                <a:solidFill>
                  <a:prstClr val="black"/>
                </a:solidFill>
                <a:latin typeface="Arial"/>
                <a:ea typeface="Arial"/>
                <a:cs typeface="Arial"/>
              </a:rPr>
              <a:t>POC &amp; Location Information:</a:t>
            </a:r>
          </a:p>
          <a:p>
            <a:pPr defTabSz="457200">
              <a:lnSpc>
                <a:spcPct val="105000"/>
              </a:lnSpc>
              <a:defRPr/>
            </a:pPr>
            <a:endParaRPr lang="en-US" sz="1000" dirty="0">
              <a:solidFill>
                <a:prstClr val="black"/>
              </a:solidFill>
              <a:latin typeface="Arial"/>
              <a:ea typeface="Calibri"/>
              <a:cs typeface="Arial"/>
              <a:sym typeface="Arial"/>
            </a:endParaRPr>
          </a:p>
          <a:p>
            <a:pPr defTabSz="457200">
              <a:lnSpc>
                <a:spcPct val="105000"/>
              </a:lnSpc>
              <a:defRPr/>
            </a:pPr>
            <a:r>
              <a:rPr lang="en-US" sz="1000" b="1" dirty="0">
                <a:solidFill>
                  <a:prstClr val="black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Arial"/>
              </a:rPr>
              <a:t>ORNL</a:t>
            </a:r>
            <a:r>
              <a:rPr lang="en-US" sz="1000" dirty="0">
                <a:solidFill>
                  <a:prstClr val="black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Arial"/>
              </a:rPr>
              <a:t> – Matt Lindsey (404) 245 – 1123, </a:t>
            </a:r>
            <a:r>
              <a:rPr lang="en-US" sz="1000" dirty="0">
                <a:solidFill>
                  <a:prstClr val="black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Arial"/>
                <a:hlinkClick r:id="rId4"/>
              </a:rPr>
              <a:t>lindseymg@ornl.gov</a:t>
            </a:r>
            <a:r>
              <a:rPr lang="en-US" sz="1000" dirty="0">
                <a:solidFill>
                  <a:prstClr val="black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Arial"/>
              </a:rPr>
              <a:t>, ORNL SOC w/ Teams Link</a:t>
            </a:r>
          </a:p>
          <a:p>
            <a:pPr defTabSz="457200">
              <a:lnSpc>
                <a:spcPct val="105000"/>
              </a:lnSpc>
              <a:defRPr/>
            </a:pPr>
            <a:r>
              <a:rPr lang="en-US" sz="1000" b="1" dirty="0">
                <a:solidFill>
                  <a:prstClr val="black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Arial"/>
              </a:rPr>
              <a:t>UTK</a:t>
            </a:r>
            <a:r>
              <a:rPr lang="en-US" sz="1000" dirty="0">
                <a:solidFill>
                  <a:prstClr val="black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Arial"/>
              </a:rPr>
              <a:t> – Brian Gard (865) 974 – 9347, </a:t>
            </a:r>
            <a:r>
              <a:rPr lang="en-US" sz="1000" dirty="0">
                <a:solidFill>
                  <a:prstClr val="black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Arial"/>
                <a:hlinkClick r:id="rId5"/>
              </a:rPr>
              <a:t>bgard1@utk.edu</a:t>
            </a:r>
            <a:r>
              <a:rPr lang="en-US" sz="1000" dirty="0">
                <a:solidFill>
                  <a:prstClr val="black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Arial"/>
              </a:rPr>
              <a:t>, UTK EOC joined via Teams Link</a:t>
            </a:r>
          </a:p>
          <a:p>
            <a:pPr defTabSz="457200">
              <a:lnSpc>
                <a:spcPct val="105000"/>
              </a:lnSpc>
              <a:defRPr/>
            </a:pPr>
            <a:r>
              <a:rPr lang="en-US" sz="1000" b="1" dirty="0">
                <a:solidFill>
                  <a:prstClr val="black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Arial"/>
              </a:rPr>
              <a:t>TEMA</a:t>
            </a:r>
            <a:r>
              <a:rPr lang="en-US" sz="1000" dirty="0">
                <a:solidFill>
                  <a:prstClr val="black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Arial"/>
              </a:rPr>
              <a:t> – David West (865) 719 – 2233, </a:t>
            </a:r>
            <a:r>
              <a:rPr lang="en-US" sz="1000" dirty="0">
                <a:solidFill>
                  <a:prstClr val="black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Arial"/>
                <a:hlinkClick r:id="rId6"/>
              </a:rPr>
              <a:t>David.l.west@tn.gov</a:t>
            </a:r>
            <a:r>
              <a:rPr lang="en-US" sz="1000" dirty="0">
                <a:solidFill>
                  <a:prstClr val="black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Arial"/>
              </a:rPr>
              <a:t>, ORNL SOC</a:t>
            </a:r>
          </a:p>
          <a:p>
            <a:pPr>
              <a:lnSpc>
                <a:spcPct val="105000"/>
              </a:lnSpc>
              <a:defRPr/>
            </a:pPr>
            <a:r>
              <a:rPr lang="en-US" sz="1000" b="1" dirty="0">
                <a:solidFill>
                  <a:prstClr val="black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Arial"/>
              </a:rPr>
              <a:t>ARNG</a:t>
            </a:r>
            <a:r>
              <a:rPr lang="en-US" sz="1000" dirty="0">
                <a:solidFill>
                  <a:prstClr val="black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Arial"/>
              </a:rPr>
              <a:t> –  CW4 Richard Allen, (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615) 478-1159, richard.d.allen56.mil@army.mil</a:t>
            </a:r>
            <a:endParaRPr lang="en-US" sz="1000" dirty="0">
              <a:solidFill>
                <a:prstClr val="black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Arial"/>
            </a:endParaRPr>
          </a:p>
          <a:p>
            <a:pPr defTabSz="457200">
              <a:lnSpc>
                <a:spcPct val="105000"/>
              </a:lnSpc>
              <a:defRPr/>
            </a:pPr>
            <a:r>
              <a:rPr lang="en-US" sz="1000" b="1" dirty="0">
                <a:solidFill>
                  <a:prstClr val="black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Arial"/>
              </a:rPr>
              <a:t>State Guard </a:t>
            </a:r>
            <a:r>
              <a:rPr lang="en-US" sz="1000" dirty="0">
                <a:solidFill>
                  <a:prstClr val="black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Arial"/>
              </a:rPr>
              <a:t>– CW4 Michael Simpson, (615) 243 – 4703, michael.simpson@tnstateguard.org</a:t>
            </a:r>
          </a:p>
        </p:txBody>
      </p:sp>
      <p:sp>
        <p:nvSpPr>
          <p:cNvPr id="9" name="Google Shape;1600;p61">
            <a:extLst>
              <a:ext uri="{FF2B5EF4-FFF2-40B4-BE49-F238E27FC236}">
                <a16:creationId xmlns:a16="http://schemas.microsoft.com/office/drawing/2014/main" id="{A4E37F03-58A7-5F23-CB3C-26B71DE65E26}"/>
              </a:ext>
            </a:extLst>
          </p:cNvPr>
          <p:cNvSpPr txBox="1"/>
          <p:nvPr/>
        </p:nvSpPr>
        <p:spPr>
          <a:xfrm>
            <a:off x="3372630" y="4162670"/>
            <a:ext cx="2739012" cy="1478167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000000"/>
              </a:buClr>
              <a:buSzPts val="1200"/>
              <a:defRPr/>
            </a:pPr>
            <a:r>
              <a:rPr lang="en-US" sz="1200" b="1" u="sng" dirty="0">
                <a:solidFill>
                  <a:prstClr val="black"/>
                </a:solidFill>
                <a:latin typeface="Arial"/>
                <a:ea typeface="Arial"/>
                <a:cs typeface="Arial"/>
                <a:sym typeface="Arial"/>
              </a:rPr>
              <a:t>Timeline: </a:t>
            </a:r>
            <a:r>
              <a:rPr lang="en-US" sz="1200" dirty="0">
                <a:solidFill>
                  <a:prstClr val="black"/>
                </a:solidFill>
                <a:latin typeface="Arial"/>
                <a:ea typeface="Calibri"/>
                <a:cs typeface="Arial"/>
                <a:sym typeface="Arial"/>
              </a:rPr>
              <a:t>14May2026 </a:t>
            </a:r>
            <a:endParaRPr lang="en-US" sz="1200" b="1" dirty="0">
              <a:solidFill>
                <a:prstClr val="black"/>
              </a:solidFill>
              <a:latin typeface="Arial"/>
              <a:cs typeface="Arial"/>
            </a:endParaRPr>
          </a:p>
          <a:p>
            <a:pPr defTabSz="457200">
              <a:buClr>
                <a:srgbClr val="000000"/>
              </a:buClr>
              <a:buSzPts val="1000"/>
              <a:defRPr/>
            </a:pPr>
            <a:endParaRPr lang="en-US" sz="900" dirty="0">
              <a:solidFill>
                <a:prstClr val="black"/>
              </a:solidFill>
              <a:latin typeface="Arial"/>
              <a:ea typeface="Calibri"/>
              <a:cs typeface="Arial"/>
              <a:sym typeface="Arial"/>
            </a:endParaRPr>
          </a:p>
          <a:p>
            <a:pPr defTabSz="457200">
              <a:buClr>
                <a:srgbClr val="000000"/>
              </a:buClr>
              <a:buSzPts val="1000"/>
              <a:defRPr/>
            </a:pPr>
            <a:r>
              <a:rPr lang="en-US" sz="900" dirty="0">
                <a:solidFill>
                  <a:prstClr val="black"/>
                </a:solidFill>
                <a:latin typeface="Arial"/>
                <a:ea typeface="Calibri"/>
                <a:cs typeface="Arial"/>
                <a:sym typeface="Arial"/>
              </a:rPr>
              <a:t>See slide “TNMAN 2026 Basic Scenario”</a:t>
            </a:r>
          </a:p>
          <a:p>
            <a:pPr defTabSz="457200">
              <a:buClr>
                <a:srgbClr val="000000"/>
              </a:buClr>
              <a:buSzPts val="1000"/>
              <a:defRPr/>
            </a:pPr>
            <a:endParaRPr lang="en-US" sz="900" dirty="0">
              <a:solidFill>
                <a:prstClr val="black"/>
              </a:solidFill>
              <a:latin typeface="Arial"/>
              <a:ea typeface="Calibri"/>
              <a:cs typeface="Arial" panose="020B0604020202020204" pitchFamily="34" charset="0"/>
            </a:endParaRPr>
          </a:p>
          <a:p>
            <a:pPr defTabSz="457200">
              <a:buClr>
                <a:srgbClr val="000000"/>
              </a:buClr>
              <a:buSzPts val="1000"/>
              <a:defRPr/>
            </a:pPr>
            <a:endParaRPr lang="en-US" sz="900" b="1" dirty="0">
              <a:solidFill>
                <a:prstClr val="black"/>
              </a:solidFill>
              <a:latin typeface="Arial"/>
              <a:ea typeface="Calibri"/>
              <a:cs typeface="Arial" panose="020B0604020202020204" pitchFamily="34" charset="0"/>
            </a:endParaRPr>
          </a:p>
          <a:p>
            <a:pPr defTabSz="457200">
              <a:buClr>
                <a:prstClr val="black"/>
              </a:buClr>
              <a:buSzPts val="1200"/>
              <a:defRPr/>
            </a:pPr>
            <a:endParaRPr sz="1000" dirty="0">
              <a:solidFill>
                <a:srgbClr val="000000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10" name="Google Shape;1604;p61">
            <a:extLst>
              <a:ext uri="{FF2B5EF4-FFF2-40B4-BE49-F238E27FC236}">
                <a16:creationId xmlns:a16="http://schemas.microsoft.com/office/drawing/2014/main" id="{F8B555A5-DC80-60D1-FE56-69C76A780630}"/>
              </a:ext>
            </a:extLst>
          </p:cNvPr>
          <p:cNvSpPr txBox="1"/>
          <p:nvPr/>
        </p:nvSpPr>
        <p:spPr>
          <a:xfrm>
            <a:off x="3372629" y="5640835"/>
            <a:ext cx="5527968" cy="1060598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defTabSz="653156">
              <a:buClr>
                <a:srgbClr val="000000"/>
              </a:buClr>
              <a:buSzPts val="1200"/>
              <a:defRPr/>
            </a:pPr>
            <a:r>
              <a:rPr lang="en-US" sz="1143" b="1" u="sng" dirty="0">
                <a:solidFill>
                  <a:prstClr val="black"/>
                </a:solidFill>
                <a:latin typeface="Arial"/>
                <a:ea typeface="Arial"/>
                <a:cs typeface="Arial"/>
                <a:sym typeface="Arial"/>
              </a:rPr>
              <a:t>Logistics &amp; Resources</a:t>
            </a:r>
            <a:r>
              <a:rPr lang="en-US" sz="1143" b="1" dirty="0">
                <a:solidFill>
                  <a:prstClr val="black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</a:p>
          <a:p>
            <a:pPr defTabSz="653156">
              <a:buClr>
                <a:srgbClr val="000000"/>
              </a:buClr>
              <a:buSzPts val="1200"/>
              <a:defRPr/>
            </a:pPr>
            <a:r>
              <a:rPr lang="en-US" sz="857" b="1" dirty="0">
                <a:solidFill>
                  <a:prstClr val="black"/>
                </a:solidFill>
                <a:latin typeface="Arial"/>
                <a:ea typeface="Arial"/>
                <a:cs typeface="Arial"/>
                <a:sym typeface="Arial"/>
              </a:rPr>
              <a:t>Food/Water:</a:t>
            </a:r>
            <a:r>
              <a:rPr lang="en-US" sz="857" b="1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Provided per individual units</a:t>
            </a:r>
          </a:p>
          <a:p>
            <a:pPr defTabSz="653156">
              <a:buClr>
                <a:srgbClr val="000000"/>
              </a:buClr>
              <a:buSzPts val="1200"/>
              <a:defRPr/>
            </a:pPr>
            <a:r>
              <a:rPr lang="en-US" sz="857" b="1" dirty="0">
                <a:solidFill>
                  <a:prstClr val="black"/>
                </a:solidFill>
                <a:latin typeface="Arial"/>
                <a:ea typeface="Arial"/>
                <a:cs typeface="Arial"/>
                <a:sym typeface="Arial"/>
              </a:rPr>
              <a:t>Lodging: Provided per individual units</a:t>
            </a:r>
            <a:endParaRPr lang="en-US" sz="857" dirty="0">
              <a:solidFill>
                <a:prstClr val="black"/>
              </a:solidFill>
              <a:latin typeface="Arial"/>
              <a:ea typeface="Arial"/>
              <a:cs typeface="Arial"/>
            </a:endParaRPr>
          </a:p>
          <a:p>
            <a:pPr defTabSz="653156">
              <a:buClr>
                <a:srgbClr val="000000"/>
              </a:buClr>
              <a:buSzPts val="1200"/>
              <a:defRPr/>
            </a:pPr>
            <a:r>
              <a:rPr lang="en-US" sz="857" b="1" dirty="0">
                <a:solidFill>
                  <a:prstClr val="black"/>
                </a:solidFill>
                <a:latin typeface="Arial"/>
                <a:ea typeface="Arial"/>
                <a:cs typeface="Arial"/>
                <a:sym typeface="Arial"/>
              </a:rPr>
              <a:t>Role Players:</a:t>
            </a:r>
            <a:r>
              <a:rPr lang="en-US" sz="857" b="1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 Documented in Participants Section.</a:t>
            </a:r>
          </a:p>
          <a:p>
            <a:pPr defTabSz="653156">
              <a:buClr>
                <a:srgbClr val="000000"/>
              </a:buClr>
              <a:buSzPts val="1200"/>
              <a:defRPr/>
            </a:pPr>
            <a:r>
              <a:rPr lang="en-US" sz="857" b="1" dirty="0">
                <a:solidFill>
                  <a:prstClr val="black"/>
                </a:solidFill>
                <a:latin typeface="Arial"/>
                <a:ea typeface="Arial"/>
                <a:cs typeface="Arial"/>
                <a:sym typeface="Arial"/>
              </a:rPr>
              <a:t>Comms:</a:t>
            </a:r>
            <a:r>
              <a:rPr lang="en-US" sz="857" dirty="0">
                <a:solidFill>
                  <a:prstClr val="black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lang="en-US" sz="857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857" b="1" dirty="0">
                <a:solidFill>
                  <a:prstClr val="black"/>
                </a:solidFill>
                <a:latin typeface=" Arial"/>
                <a:ea typeface="Arial"/>
                <a:cs typeface="Arial"/>
                <a:sym typeface="Arial"/>
              </a:rPr>
              <a:t>Subject to TNNG: </a:t>
            </a:r>
            <a:r>
              <a:rPr lang="en-US" sz="857" b="1" i="1" u="sng" dirty="0">
                <a:solidFill>
                  <a:prstClr val="black"/>
                </a:solidFill>
                <a:latin typeface=" Arial"/>
                <a:ea typeface="Arial"/>
                <a:cs typeface="Arial"/>
                <a:sym typeface="Arial"/>
              </a:rPr>
              <a:t>P:</a:t>
            </a:r>
            <a:r>
              <a:rPr lang="en-US" sz="857" b="1" i="1" dirty="0">
                <a:solidFill>
                  <a:prstClr val="black"/>
                </a:solidFill>
                <a:latin typeface=" Arial"/>
                <a:ea typeface="Arial"/>
                <a:cs typeface="Arial"/>
                <a:sym typeface="Arial"/>
              </a:rPr>
              <a:t> </a:t>
            </a:r>
            <a:r>
              <a:rPr lang="en-US" sz="857" dirty="0">
                <a:solidFill>
                  <a:prstClr val="black"/>
                </a:solidFill>
                <a:latin typeface=" Arial"/>
                <a:ea typeface="Arial"/>
                <a:cs typeface="Arial"/>
                <a:sym typeface="Arial"/>
              </a:rPr>
              <a:t>; </a:t>
            </a:r>
            <a:r>
              <a:rPr lang="en-US" sz="857" b="1" i="1" u="sng" dirty="0">
                <a:solidFill>
                  <a:prstClr val="black"/>
                </a:solidFill>
                <a:latin typeface=" Arial"/>
                <a:ea typeface="Arial"/>
                <a:cs typeface="Arial"/>
                <a:sym typeface="Arial"/>
              </a:rPr>
              <a:t>A</a:t>
            </a:r>
            <a:r>
              <a:rPr lang="en-US" sz="857" b="1" i="1" dirty="0">
                <a:solidFill>
                  <a:prstClr val="black"/>
                </a:solidFill>
                <a:latin typeface=" Arial"/>
                <a:ea typeface="Arial"/>
                <a:cs typeface="Arial"/>
                <a:sym typeface="Arial"/>
              </a:rPr>
              <a:t>: </a:t>
            </a:r>
            <a:r>
              <a:rPr lang="en-US" sz="857" dirty="0">
                <a:solidFill>
                  <a:prstClr val="black"/>
                </a:solidFill>
                <a:latin typeface=" Arial"/>
                <a:ea typeface="Arial"/>
                <a:cs typeface="Arial"/>
                <a:sym typeface="Arial"/>
              </a:rPr>
              <a:t>; </a:t>
            </a:r>
            <a:r>
              <a:rPr lang="en-US" sz="857" b="1" i="1" u="sng" dirty="0">
                <a:solidFill>
                  <a:prstClr val="black"/>
                </a:solidFill>
                <a:latin typeface=" Arial"/>
                <a:ea typeface="Arial"/>
                <a:cs typeface="Arial"/>
                <a:sym typeface="Arial"/>
              </a:rPr>
              <a:t>C:</a:t>
            </a:r>
            <a:r>
              <a:rPr lang="en-US" sz="857" b="1" i="1" dirty="0">
                <a:solidFill>
                  <a:prstClr val="black"/>
                </a:solidFill>
                <a:latin typeface=" Arial"/>
                <a:ea typeface="Arial"/>
                <a:cs typeface="Arial"/>
                <a:sym typeface="Arial"/>
              </a:rPr>
              <a:t> </a:t>
            </a:r>
            <a:r>
              <a:rPr lang="en-US" sz="857" dirty="0">
                <a:solidFill>
                  <a:prstClr val="black"/>
                </a:solidFill>
                <a:latin typeface=" Arial"/>
                <a:ea typeface="Arial"/>
                <a:cs typeface="Arial"/>
                <a:sym typeface="Arial"/>
              </a:rPr>
              <a:t>; </a:t>
            </a:r>
            <a:r>
              <a:rPr lang="en-US" sz="857" b="1" i="1" u="sng" dirty="0">
                <a:solidFill>
                  <a:prstClr val="black"/>
                </a:solidFill>
                <a:latin typeface=" Arial"/>
                <a:ea typeface="Arial"/>
                <a:cs typeface="Arial"/>
                <a:sym typeface="Arial"/>
              </a:rPr>
              <a:t>E:</a:t>
            </a:r>
            <a:r>
              <a:rPr lang="en-US" sz="857" b="1" dirty="0">
                <a:solidFill>
                  <a:prstClr val="black"/>
                </a:solidFill>
                <a:latin typeface=" Arial"/>
                <a:ea typeface="Arial"/>
                <a:cs typeface="Arial"/>
                <a:sym typeface="Arial"/>
              </a:rPr>
              <a:t>	   </a:t>
            </a:r>
            <a:endParaRPr lang="en-US" sz="857" dirty="0">
              <a:solidFill>
                <a:prstClr val="black"/>
              </a:solidFill>
              <a:latin typeface=" Arial"/>
              <a:ea typeface="Arial"/>
              <a:cs typeface="Arial"/>
              <a:sym typeface="Arial"/>
            </a:endParaRPr>
          </a:p>
          <a:p>
            <a:pPr defTabSz="653156">
              <a:buClr>
                <a:srgbClr val="000000"/>
              </a:buClr>
              <a:buSzPts val="1200"/>
              <a:defRPr/>
            </a:pPr>
            <a:r>
              <a:rPr lang="en-US" sz="857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Admin</a:t>
            </a:r>
            <a:r>
              <a:rPr lang="en-US" sz="857" b="1" dirty="0">
                <a:solidFill>
                  <a:prstClr val="black"/>
                </a:solidFill>
                <a:latin typeface="Arial"/>
                <a:ea typeface="Arial"/>
                <a:cs typeface="Arial"/>
                <a:sym typeface="Arial"/>
              </a:rPr>
              <a:t>: Provided per individual units.</a:t>
            </a:r>
            <a:endParaRPr lang="en-US" sz="857" dirty="0">
              <a:solidFill>
                <a:prstClr val="black"/>
              </a:solidFill>
              <a:latin typeface="Arial"/>
              <a:ea typeface="Arial"/>
              <a:cs typeface="Arial"/>
            </a:endParaRPr>
          </a:p>
          <a:p>
            <a:pPr defTabSz="653156">
              <a:buSzPts val="1200"/>
              <a:defRPr/>
            </a:pPr>
            <a:r>
              <a:rPr lang="en-US" sz="857" b="1" dirty="0">
                <a:solidFill>
                  <a:prstClr val="black"/>
                </a:solidFill>
                <a:latin typeface="Arial"/>
                <a:ea typeface="Arial"/>
                <a:cs typeface="Arial"/>
                <a:sym typeface="Arial"/>
              </a:rPr>
              <a:t>Medical:</a:t>
            </a:r>
            <a:r>
              <a:rPr lang="en-US" sz="857" dirty="0">
                <a:solidFill>
                  <a:prstClr val="black"/>
                </a:solidFill>
                <a:latin typeface="Arial"/>
                <a:ea typeface="Arial"/>
                <a:cs typeface="Arial"/>
                <a:sym typeface="Arial"/>
              </a:rPr>
              <a:t> Provided per individual units.</a:t>
            </a:r>
            <a:endParaRPr lang="en-US" sz="857" dirty="0"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Google Shape;1599;p61">
            <a:extLst>
              <a:ext uri="{FF2B5EF4-FFF2-40B4-BE49-F238E27FC236}">
                <a16:creationId xmlns:a16="http://schemas.microsoft.com/office/drawing/2014/main" id="{17A4A472-34A1-B5D7-F8E2-40291F999316}"/>
              </a:ext>
            </a:extLst>
          </p:cNvPr>
          <p:cNvSpPr txBox="1"/>
          <p:nvPr/>
        </p:nvSpPr>
        <p:spPr>
          <a:xfrm>
            <a:off x="243401" y="1000864"/>
            <a:ext cx="3129228" cy="1976952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defTabSz="457200">
              <a:lnSpc>
                <a:spcPct val="105000"/>
              </a:lnSpc>
              <a:defRPr/>
            </a:pPr>
            <a:r>
              <a:rPr lang="en-US" sz="1300" b="1" u="sng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Scenario:</a:t>
            </a:r>
          </a:p>
          <a:p>
            <a:pPr defTabSz="457200">
              <a:lnSpc>
                <a:spcPct val="105000"/>
              </a:lnSpc>
              <a:defRPr/>
            </a:pPr>
            <a:r>
              <a:rPr lang="en-US" sz="13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Cyber event targeting eagle-i.doe.gov impacts TEMA operations. During incident response, UTK is discovered to be a secondary target.</a:t>
            </a:r>
          </a:p>
          <a:p>
            <a:pPr defTabSz="457200">
              <a:lnSpc>
                <a:spcPct val="105000"/>
              </a:lnSpc>
              <a:defRPr/>
            </a:pPr>
            <a:endParaRPr lang="en-US" sz="13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defTabSz="457200">
              <a:lnSpc>
                <a:spcPct val="105000"/>
              </a:lnSpc>
              <a:defRPr/>
            </a:pPr>
            <a:r>
              <a:rPr lang="en-US" sz="13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Triggers/Artificialities/Simulation:</a:t>
            </a:r>
            <a:r>
              <a:rPr lang="en-US" sz="1300" b="1" u="sng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3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" name="Google Shape;1603;p61">
            <a:extLst>
              <a:ext uri="{FF2B5EF4-FFF2-40B4-BE49-F238E27FC236}">
                <a16:creationId xmlns:a16="http://schemas.microsoft.com/office/drawing/2014/main" id="{F364EAD1-7340-15DA-FB55-FF91AC2406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21702481"/>
              </p:ext>
            </p:extLst>
          </p:nvPr>
        </p:nvGraphicFramePr>
        <p:xfrm>
          <a:off x="243399" y="2977816"/>
          <a:ext cx="3129231" cy="1751537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2927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2689">
                  <a:extLst>
                    <a:ext uri="{9D8B030D-6E8A-4147-A177-3AD203B41FA5}">
                      <a16:colId xmlns:a16="http://schemas.microsoft.com/office/drawing/2014/main" val="1908897264"/>
                    </a:ext>
                  </a:extLst>
                </a:gridCol>
                <a:gridCol w="903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728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Participants</a:t>
                      </a:r>
                      <a:endParaRPr sz="1200" b="1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91450" marR="91450" marT="45725" marB="45725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8080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Onsite</a:t>
                      </a:r>
                      <a:endParaRPr sz="900" b="1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Remote</a:t>
                      </a:r>
                      <a:endParaRPr sz="900" b="1" dirty="0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137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ORNL Cyber Division</a:t>
                      </a:r>
                      <a:endParaRPr sz="9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91450" marR="91450" marT="0" marB="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8080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8080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10</a:t>
                      </a:r>
                      <a:endParaRPr sz="9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91450" marR="9145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9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91450" marR="9145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137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Eagle-I Sys admins</a:t>
                      </a:r>
                      <a:endParaRPr sz="9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91450" marR="91450" marT="0" marB="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8080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9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91450" marR="9145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9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91450" marR="9145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99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TEMA</a:t>
                      </a:r>
                    </a:p>
                  </a:txBody>
                  <a:tcPr marL="91450" marR="91450" marT="0" marB="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9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91450" marR="9145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9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91450" marR="9145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699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UTK</a:t>
                      </a:r>
                      <a:endParaRPr sz="9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91450" marR="91450" marT="0" marB="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9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91450" marR="9145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9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91450" marR="9145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7682728"/>
                  </a:ext>
                </a:extLst>
              </a:tr>
              <a:tr h="23699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TN Guard</a:t>
                      </a:r>
                      <a:endParaRPr sz="9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91450" marR="91450" marT="0" marB="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sz="9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91450" marR="9145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sz="9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91450" marR="9145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3139581"/>
                  </a:ext>
                </a:extLst>
              </a:tr>
              <a:tr h="23699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State Guard</a:t>
                      </a:r>
                      <a:endParaRPr sz="9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91450" marR="91450" marT="0" marB="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9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91450" marR="9145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9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91450" marR="9145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8066642"/>
                  </a:ext>
                </a:extLst>
              </a:tr>
            </a:tbl>
          </a:graphicData>
        </a:graphic>
      </p:graphicFrame>
      <p:sp>
        <p:nvSpPr>
          <p:cNvPr id="15" name="Google Shape;1602;p61">
            <a:extLst>
              <a:ext uri="{FF2B5EF4-FFF2-40B4-BE49-F238E27FC236}">
                <a16:creationId xmlns:a16="http://schemas.microsoft.com/office/drawing/2014/main" id="{6835DCE4-9048-21FD-E3F0-2D70309B1CAC}"/>
              </a:ext>
            </a:extLst>
          </p:cNvPr>
          <p:cNvSpPr txBox="1"/>
          <p:nvPr/>
        </p:nvSpPr>
        <p:spPr>
          <a:xfrm>
            <a:off x="243400" y="4740757"/>
            <a:ext cx="3129229" cy="1960677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defTabSz="457200">
              <a:buClr>
                <a:srgbClr val="000000"/>
              </a:buClr>
              <a:buSzPts val="1200"/>
              <a:defRPr/>
            </a:pPr>
            <a:r>
              <a:rPr lang="en-US" sz="1300" b="1" u="sng" dirty="0">
                <a:solidFill>
                  <a:prstClr val="black"/>
                </a:solidFill>
                <a:latin typeface=" Arial"/>
                <a:cs typeface="Calibri"/>
              </a:rPr>
              <a:t>Objectives:</a:t>
            </a:r>
          </a:p>
          <a:p>
            <a:pPr defTabSz="457200">
              <a:buClr>
                <a:srgbClr val="000000"/>
              </a:buClr>
              <a:buSzPts val="1200"/>
              <a:defRPr/>
            </a:pPr>
            <a:r>
              <a:rPr lang="en-US" sz="1300" dirty="0">
                <a:solidFill>
                  <a:prstClr val="black"/>
                </a:solidFill>
                <a:latin typeface=" Arial"/>
                <a:cs typeface="Calibri"/>
              </a:rPr>
              <a:t>1 </a:t>
            </a:r>
            <a:r>
              <a:rPr lang="en-US" sz="1300">
                <a:solidFill>
                  <a:prstClr val="black"/>
                </a:solidFill>
                <a:latin typeface=" Arial"/>
                <a:cs typeface="Calibri"/>
              </a:rPr>
              <a:t>- Coms </a:t>
            </a:r>
            <a:r>
              <a:rPr lang="en-US" sz="1300" dirty="0">
                <a:solidFill>
                  <a:prstClr val="black"/>
                </a:solidFill>
                <a:latin typeface=" Arial"/>
                <a:cs typeface="Calibri"/>
              </a:rPr>
              <a:t>between ORNL and TEMA surrounding Eagle-I outage.</a:t>
            </a:r>
          </a:p>
          <a:p>
            <a:pPr defTabSz="457200">
              <a:buClr>
                <a:srgbClr val="000000"/>
              </a:buClr>
              <a:buSzPts val="1200"/>
              <a:defRPr/>
            </a:pPr>
            <a:r>
              <a:rPr lang="en-US" sz="1300" dirty="0">
                <a:solidFill>
                  <a:prstClr val="black"/>
                </a:solidFill>
                <a:latin typeface=" Arial"/>
                <a:cs typeface="Calibri"/>
              </a:rPr>
              <a:t>2 - LMR interop exercise/radio checks for communication outage.</a:t>
            </a:r>
          </a:p>
          <a:p>
            <a:pPr defTabSz="457200">
              <a:buClr>
                <a:srgbClr val="000000"/>
              </a:buClr>
              <a:buSzPts val="1200"/>
              <a:defRPr/>
            </a:pPr>
            <a:r>
              <a:rPr lang="en-US" sz="1300" dirty="0">
                <a:solidFill>
                  <a:prstClr val="black"/>
                </a:solidFill>
                <a:latin typeface=" Arial"/>
                <a:cs typeface="Calibri"/>
              </a:rPr>
              <a:t>3 – State EOC intel sharing with UTK of IOCs/TTPs.</a:t>
            </a:r>
          </a:p>
          <a:p>
            <a:pPr defTabSz="457200">
              <a:buClr>
                <a:srgbClr val="000000"/>
              </a:buClr>
              <a:buSzPts val="1200"/>
              <a:defRPr/>
            </a:pPr>
            <a:r>
              <a:rPr lang="en-US" sz="1300" dirty="0">
                <a:solidFill>
                  <a:prstClr val="black"/>
                </a:solidFill>
                <a:latin typeface=" Arial"/>
                <a:cs typeface="Calibri"/>
              </a:rPr>
              <a:t>4 - IR tabletop exercise with ORNL/UTK.</a:t>
            </a:r>
          </a:p>
          <a:p>
            <a:pPr defTabSz="457200">
              <a:buClr>
                <a:srgbClr val="000000"/>
              </a:buClr>
              <a:buSzPts val="1200"/>
              <a:defRPr/>
            </a:pPr>
            <a:endParaRPr lang="en-US" sz="1300" dirty="0">
              <a:solidFill>
                <a:prstClr val="black"/>
              </a:solidFill>
              <a:latin typeface=" Arial"/>
              <a:cs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85DBF6-78DA-E105-E5A8-CBA16C13E5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6630" y="194331"/>
            <a:ext cx="1690689" cy="616396"/>
          </a:xfrm>
          <a:prstGeom prst="rect">
            <a:avLst/>
          </a:prstGeom>
          <a:ln w="19050">
            <a:solidFill>
              <a:srgbClr val="1D303F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08CFBEE-F46B-45E7-DE81-C2F8E638871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70831" y="998010"/>
            <a:ext cx="3331119" cy="3081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747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616256F-B76E-5596-B60D-A3BF7E28F20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Starting Scenario – ORNL Eagle-I service is targeted by a cyber attack. </a:t>
            </a:r>
          </a:p>
          <a:p>
            <a:pPr lvl="1"/>
            <a:r>
              <a:rPr lang="en-US" dirty="0"/>
              <a:t>0800 EST, Eagle-I system admins notice strange activity, and report to ORNL DCO of a potential cyber event. </a:t>
            </a:r>
          </a:p>
          <a:p>
            <a:pPr lvl="1"/>
            <a:r>
              <a:rPr lang="en-US" dirty="0"/>
              <a:t>0830 EST, ORNL DCO formally declares an incident. </a:t>
            </a:r>
          </a:p>
          <a:p>
            <a:pPr lvl="1"/>
            <a:r>
              <a:rPr lang="en-US" dirty="0"/>
              <a:t>0930 EST, TEMA is notified of derogated service to Eagle-I.</a:t>
            </a:r>
          </a:p>
          <a:p>
            <a:pPr lvl="1"/>
            <a:r>
              <a:rPr lang="en-US" dirty="0"/>
              <a:t>0945 EST, known IOCs are shared to state EOC. </a:t>
            </a:r>
          </a:p>
          <a:p>
            <a:pPr lvl="1"/>
            <a:r>
              <a:rPr lang="en-US" dirty="0"/>
              <a:t>1000 EST, UTK staff detects suspicious activity matching IOCs provided by ORNL.</a:t>
            </a:r>
          </a:p>
          <a:p>
            <a:pPr lvl="1"/>
            <a:r>
              <a:rPr lang="en-US" dirty="0"/>
              <a:t>1030 EST, UTK IMT/EOC responds to cyber attack and impacts of campus wide infrastructure outage. – UTK/ORNL attempts to determine joint staff list.</a:t>
            </a:r>
          </a:p>
          <a:p>
            <a:pPr lvl="1"/>
            <a:r>
              <a:rPr lang="en-US" dirty="0"/>
              <a:t>1130 EST, ORNL localized cell tower outage. TEMA notified via VoIP/email.</a:t>
            </a:r>
          </a:p>
          <a:p>
            <a:pPr lvl="1"/>
            <a:r>
              <a:rPr lang="en-US" dirty="0"/>
              <a:t>1140 EST, Eagle-I goes down entirely. TEMA is notified of Eagle-I outage. </a:t>
            </a:r>
          </a:p>
          <a:p>
            <a:pPr lvl="1"/>
            <a:r>
              <a:rPr lang="en-US" dirty="0"/>
              <a:t>1200 EST, ORNL requests radios from onsite EOC and coordinates channels with TEMA.</a:t>
            </a:r>
          </a:p>
          <a:p>
            <a:pPr lvl="1"/>
            <a:r>
              <a:rPr lang="en-US" dirty="0"/>
              <a:t>1205 EST, ORNL is offered training awareness kit (TAK) to coordinate response. </a:t>
            </a:r>
          </a:p>
          <a:p>
            <a:pPr lvl="1"/>
            <a:r>
              <a:rPr lang="en-US" dirty="0"/>
              <a:t>1215 EST, runner sent to pickup radios arrive.</a:t>
            </a:r>
          </a:p>
          <a:p>
            <a:pPr lvl="1"/>
            <a:r>
              <a:rPr lang="en-US" dirty="0"/>
              <a:t>1245 EST, ORNL achieves eradication and containment of cyber event.</a:t>
            </a:r>
          </a:p>
          <a:p>
            <a:pPr lvl="1"/>
            <a:r>
              <a:rPr lang="en-US" dirty="0"/>
              <a:t>1300 EST, Eagle-I service is partially restored. </a:t>
            </a:r>
          </a:p>
          <a:p>
            <a:pPr lvl="1"/>
            <a:r>
              <a:rPr lang="en-US" dirty="0"/>
              <a:t>1400 EST, UTK reports partially restored continuity of operations.</a:t>
            </a:r>
          </a:p>
          <a:p>
            <a:r>
              <a:rPr lang="en-US" dirty="0"/>
              <a:t>Injects</a:t>
            </a:r>
          </a:p>
          <a:p>
            <a:pPr lvl="1"/>
            <a:r>
              <a:rPr lang="en-US" dirty="0"/>
              <a:t>1 – Eagle-I goes down entirely</a:t>
            </a:r>
          </a:p>
          <a:p>
            <a:pPr lvl="1"/>
            <a:r>
              <a:rPr lang="en-US" dirty="0"/>
              <a:t>2 – After ORNL provides IOCs, UTK detects suspicious activity on their network.</a:t>
            </a:r>
          </a:p>
          <a:p>
            <a:pPr lvl="1"/>
            <a:r>
              <a:rPr lang="en-US" dirty="0"/>
              <a:t>3 – Localized cell tower outage, ORNL EOC brings out radios. </a:t>
            </a:r>
          </a:p>
          <a:p>
            <a:pPr lvl="1"/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5621DB-3F30-518B-E436-F33B543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25671-793B-43FD-9287-2D5C3F89EA5F}" type="slidenum">
              <a:rPr lang="en-US" smtClean="0"/>
              <a:t>2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7F28CE-A5D0-3C6B-6C53-4867E64C7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TNMAN 2026 Basic Scenario </a:t>
            </a:r>
          </a:p>
        </p:txBody>
      </p:sp>
    </p:spTree>
    <p:extLst>
      <p:ext uri="{BB962C8B-B14F-4D97-AF65-F5344CB8AC3E}">
        <p14:creationId xmlns:p14="http://schemas.microsoft.com/office/powerpoint/2010/main" val="2542240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9826EE1-D35D-BFD7-F608-045150CB75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Outside of the scope of this scenario itself, but we are assuming that federal communications are restored via ECN. </a:t>
            </a:r>
          </a:p>
          <a:p>
            <a:r>
              <a:rPr lang="en-US" dirty="0"/>
              <a:t>We will be simulating IJC3, FBI, and ORNL communications on ORNL’s side. </a:t>
            </a:r>
          </a:p>
          <a:p>
            <a:r>
              <a:rPr lang="en-US" dirty="0"/>
              <a:t>ORNL will schedule a training session of team awareness kits (TAK) @CW4 Simpson.</a:t>
            </a:r>
          </a:p>
          <a:p>
            <a:r>
              <a:rPr lang="en-US" dirty="0"/>
              <a:t>Once notified, UTK will follow their own response plan and generate their own injects for the remainder of the exercise.</a:t>
            </a:r>
          </a:p>
          <a:p>
            <a:r>
              <a:rPr lang="en-US" dirty="0"/>
              <a:t>ORNL radios are initially only locally effective.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EE5863-B73B-399B-79EE-A52B8E1E0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25671-793B-43FD-9287-2D5C3F89EA5F}" type="slidenum">
              <a:rPr lang="en-US" smtClean="0"/>
              <a:t>3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B3DB2B4-A2A7-4A71-FE38-26009C2CF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Assumptions and Background Conditions</a:t>
            </a:r>
          </a:p>
        </p:txBody>
      </p:sp>
    </p:spTree>
    <p:extLst>
      <p:ext uri="{BB962C8B-B14F-4D97-AF65-F5344CB8AC3E}">
        <p14:creationId xmlns:p14="http://schemas.microsoft.com/office/powerpoint/2010/main" val="2813063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2E2602A-4061-560E-4CCC-4FC23C975C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ORNL – Sharpen technical details with Eagle-I admins for tabletop cyber event. </a:t>
            </a:r>
          </a:p>
          <a:p>
            <a:r>
              <a:rPr lang="en-US" dirty="0"/>
              <a:t>UTK – Bring internal MSEL with internal cyber response actions. </a:t>
            </a:r>
          </a:p>
          <a:p>
            <a:r>
              <a:rPr lang="en-US" dirty="0"/>
              <a:t> TEMA – Review plans/procedures with lead on how communications and resources will work between ORNL, UTK, etc. </a:t>
            </a:r>
          </a:p>
          <a:p>
            <a:r>
              <a:rPr lang="en-US" dirty="0"/>
              <a:t>TN/State Guard – Planning session for participation in this event.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6016B47-9DA3-51CF-E48A-ABD543DCF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25671-793B-43FD-9287-2D5C3F89EA5F}" type="slidenum">
              <a:rPr lang="en-US" smtClean="0"/>
              <a:t>4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D76E355-71ED-1BF5-E09C-A1858DCEC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Deliverables</a:t>
            </a:r>
          </a:p>
        </p:txBody>
      </p:sp>
    </p:spTree>
    <p:extLst>
      <p:ext uri="{BB962C8B-B14F-4D97-AF65-F5344CB8AC3E}">
        <p14:creationId xmlns:p14="http://schemas.microsoft.com/office/powerpoint/2010/main" val="2105627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F68CA-E46A-ED71-C28E-36C3F30E0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61B8C9-0213-6FB9-F3F2-083491D03B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 Arial"/>
                <a:ea typeface="+mn-ea"/>
                <a:cs typeface="+mn-cs"/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9F2B6C-EFD0-D9F2-7B61-284DAE4CCB1D}"/>
              </a:ext>
            </a:extLst>
          </p:cNvPr>
          <p:cNvSpPr txBox="1"/>
          <p:nvPr/>
        </p:nvSpPr>
        <p:spPr>
          <a:xfrm>
            <a:off x="3825642" y="-65732"/>
            <a:ext cx="14927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CC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UNCLASSIFIED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3B132A-CEE3-5B96-99B6-3EA3F6DBF965}"/>
              </a:ext>
            </a:extLst>
          </p:cNvPr>
          <p:cNvSpPr txBox="1"/>
          <p:nvPr/>
        </p:nvSpPr>
        <p:spPr>
          <a:xfrm>
            <a:off x="3825642" y="6550223"/>
            <a:ext cx="14927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CC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UNCLASSIFIED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8B420E-2298-0E18-6C2D-46C68F4BA65D}"/>
              </a:ext>
            </a:extLst>
          </p:cNvPr>
          <p:cNvSpPr txBox="1"/>
          <p:nvPr/>
        </p:nvSpPr>
        <p:spPr>
          <a:xfrm>
            <a:off x="5067166" y="1047107"/>
            <a:ext cx="3170797" cy="48320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sng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TEMA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algn="ctr"/>
            <a:r>
              <a:rPr lang="en-US" sz="1400" dirty="0"/>
              <a:t>Ryan Scwartz</a:t>
            </a:r>
          </a:p>
          <a:p>
            <a:pPr algn="ctr"/>
            <a:r>
              <a:rPr lang="en-US" sz="1400" dirty="0"/>
              <a:t>Exercise Program Manager</a:t>
            </a:r>
          </a:p>
          <a:p>
            <a:pPr algn="ctr"/>
            <a:r>
              <a:rPr lang="en-US" sz="1400" dirty="0">
                <a:hlinkClick r:id="rId3"/>
              </a:rPr>
              <a:t>Ryan.Schwartz@tn.gov</a:t>
            </a:r>
            <a:endParaRPr lang="en-US" sz="1400" dirty="0"/>
          </a:p>
          <a:p>
            <a:pPr algn="ctr"/>
            <a:r>
              <a:rPr lang="en-US" sz="1400" dirty="0"/>
              <a:t>615-557-7360</a:t>
            </a:r>
          </a:p>
          <a:p>
            <a:pPr algn="ctr"/>
            <a:endParaRPr lang="en-US" sz="1400" dirty="0"/>
          </a:p>
          <a:p>
            <a:pPr algn="ctr"/>
            <a:r>
              <a:rPr lang="en-US" sz="1400" dirty="0"/>
              <a:t>Tatiana DiSalvo</a:t>
            </a:r>
            <a:endParaRPr lang="en-US" sz="1400" dirty="0">
              <a:ea typeface="Calibri"/>
              <a:cs typeface="Calibri"/>
            </a:endParaRPr>
          </a:p>
          <a:p>
            <a:pPr algn="ctr"/>
            <a:r>
              <a:rPr lang="en-US" sz="1400" dirty="0"/>
              <a:t>Exercise Specialist</a:t>
            </a:r>
            <a:endParaRPr lang="en-US" sz="1400" dirty="0">
              <a:ea typeface="Calibri"/>
              <a:cs typeface="Calibri"/>
            </a:endParaRPr>
          </a:p>
          <a:p>
            <a:pPr algn="ctr"/>
            <a:r>
              <a:rPr lang="en-US" sz="1400" dirty="0">
                <a:hlinkClick r:id="rId4"/>
              </a:rPr>
              <a:t>Tatiana.DiSalvo@tn.gov</a:t>
            </a:r>
            <a:endParaRPr lang="en-US" sz="1400" dirty="0"/>
          </a:p>
          <a:p>
            <a:pPr algn="ctr"/>
            <a:r>
              <a:rPr lang="en-US" sz="1400" dirty="0"/>
              <a:t>615-626-8321</a:t>
            </a:r>
            <a:endParaRPr lang="en-US" sz="1400" dirty="0">
              <a:ea typeface="Calibri"/>
              <a:cs typeface="Calibri"/>
            </a:endParaRPr>
          </a:p>
          <a:p>
            <a:pPr algn="ctr"/>
            <a:endParaRPr lang="en-US" sz="1400" dirty="0"/>
          </a:p>
          <a:p>
            <a:pPr algn="ctr"/>
            <a:r>
              <a:rPr lang="en-US" sz="1400" dirty="0"/>
              <a:t>Matt Heckard</a:t>
            </a:r>
            <a:endParaRPr lang="en-US" sz="1400" dirty="0">
              <a:ea typeface="Calibri"/>
              <a:cs typeface="Calibri"/>
            </a:endParaRPr>
          </a:p>
          <a:p>
            <a:pPr algn="ctr"/>
            <a:r>
              <a:rPr lang="en-US" sz="1400" dirty="0"/>
              <a:t>Assistant Director</a:t>
            </a:r>
            <a:endParaRPr lang="en-US" sz="1400" dirty="0">
              <a:ea typeface="Calibri"/>
              <a:cs typeface="Calibri"/>
            </a:endParaRPr>
          </a:p>
          <a:p>
            <a:pPr algn="ctr"/>
            <a:r>
              <a:rPr lang="en-US" sz="1400" dirty="0">
                <a:hlinkClick r:id="rId5"/>
              </a:rPr>
              <a:t>Matthew.Heckard@tn.gov</a:t>
            </a:r>
            <a:endParaRPr lang="en-US" sz="1400" dirty="0"/>
          </a:p>
          <a:p>
            <a:pPr algn="ctr"/>
            <a:r>
              <a:rPr lang="en-US" sz="1400" dirty="0"/>
              <a:t>615-939-0505</a:t>
            </a:r>
          </a:p>
          <a:p>
            <a:pPr algn="ctr"/>
            <a:endParaRPr lang="en-US" sz="1400" dirty="0"/>
          </a:p>
          <a:p>
            <a:pPr algn="ctr"/>
            <a:r>
              <a:rPr lang="en-US" sz="1400" dirty="0"/>
              <a:t>Todd Jones</a:t>
            </a:r>
            <a:endParaRPr lang="en-US" sz="1400" dirty="0">
              <a:ea typeface="Calibri"/>
              <a:cs typeface="Calibri"/>
            </a:endParaRPr>
          </a:p>
          <a:p>
            <a:pPr algn="ctr"/>
            <a:r>
              <a:rPr lang="en-US" sz="1400" dirty="0"/>
              <a:t>East Region Director</a:t>
            </a:r>
            <a:endParaRPr lang="en-US" sz="1400" dirty="0">
              <a:ea typeface="Calibri"/>
              <a:cs typeface="Calibri"/>
            </a:endParaRPr>
          </a:p>
          <a:p>
            <a:pPr algn="ctr"/>
            <a:r>
              <a:rPr lang="en-US" sz="1400" dirty="0">
                <a:hlinkClick r:id="rId6"/>
              </a:rPr>
              <a:t>Todd.Jones@tn.gov</a:t>
            </a:r>
            <a:endParaRPr lang="en-US" sz="1400" dirty="0"/>
          </a:p>
          <a:p>
            <a:pPr algn="ctr"/>
            <a:r>
              <a:rPr lang="en-US" sz="1400" dirty="0"/>
              <a:t>865-599-0035</a:t>
            </a:r>
            <a:endParaRPr lang="en-US" sz="1400" dirty="0">
              <a:ea typeface="Calibri"/>
              <a:cs typeface="Calibri"/>
            </a:endParaRP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24A5D9BF-D81D-2B35-6861-5800789F0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23076"/>
            <a:ext cx="7886700" cy="751853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Arial"/>
                <a:cs typeface="Arial"/>
              </a:rPr>
              <a:t>Lead Planners</a:t>
            </a:r>
            <a:endParaRPr lang="en-US" sz="3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F94F2B-46FF-3633-8263-7A282E5AB5C0}"/>
              </a:ext>
            </a:extLst>
          </p:cNvPr>
          <p:cNvSpPr txBox="1"/>
          <p:nvPr/>
        </p:nvSpPr>
        <p:spPr>
          <a:xfrm>
            <a:off x="906039" y="1047107"/>
            <a:ext cx="3170797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/>
              <a:t>TN National Guard</a:t>
            </a:r>
          </a:p>
          <a:p>
            <a:pPr algn="ctr"/>
            <a:endParaRPr lang="en-US" sz="1600" dirty="0"/>
          </a:p>
          <a:p>
            <a:pPr algn="ctr"/>
            <a:r>
              <a:rPr lang="en-US" sz="1400" dirty="0"/>
              <a:t>2LT Gabriel Sussman</a:t>
            </a:r>
          </a:p>
          <a:p>
            <a:pPr algn="ctr"/>
            <a:r>
              <a:rPr lang="en-US" sz="1400" dirty="0"/>
              <a:t>J3/7 DOMS Training Officer</a:t>
            </a:r>
          </a:p>
          <a:p>
            <a:pPr algn="ctr"/>
            <a:r>
              <a:rPr lang="en-US" sz="1400" dirty="0">
                <a:hlinkClick r:id="rId7"/>
              </a:rPr>
              <a:t>gabriel.f.sussman.mil@army.mil</a:t>
            </a:r>
            <a:endParaRPr lang="en-US" sz="1400" dirty="0"/>
          </a:p>
          <a:p>
            <a:pPr algn="ctr"/>
            <a:r>
              <a:rPr lang="en-US" sz="1400" dirty="0"/>
              <a:t>615-313-0562</a:t>
            </a:r>
          </a:p>
          <a:p>
            <a:pPr algn="ctr"/>
            <a:endParaRPr lang="en-US" sz="1400" dirty="0"/>
          </a:p>
          <a:p>
            <a:pPr algn="ctr"/>
            <a:r>
              <a:rPr lang="en-US" sz="1400" dirty="0"/>
              <a:t>MAJ Trint Callison</a:t>
            </a:r>
          </a:p>
          <a:p>
            <a:pPr algn="ctr"/>
            <a:r>
              <a:rPr lang="en-US" sz="1400" dirty="0"/>
              <a:t>Deputy J3/5/7</a:t>
            </a:r>
          </a:p>
          <a:p>
            <a:pPr algn="ctr"/>
            <a:r>
              <a:rPr lang="en-US" sz="1400" dirty="0">
                <a:hlinkClick r:id="rId8"/>
              </a:rPr>
              <a:t>trinity.r.callison.mil@army.mil</a:t>
            </a:r>
            <a:endParaRPr lang="en-US" sz="1400" dirty="0"/>
          </a:p>
          <a:p>
            <a:pPr algn="ctr"/>
            <a:r>
              <a:rPr lang="en-US" sz="1400" dirty="0"/>
              <a:t>615-417-9811</a:t>
            </a:r>
          </a:p>
          <a:p>
            <a:pPr algn="ctr"/>
            <a:endParaRPr lang="en-US" sz="1400" dirty="0"/>
          </a:p>
          <a:p>
            <a:pPr algn="ctr"/>
            <a:r>
              <a:rPr lang="en-US" sz="1400" dirty="0"/>
              <a:t>MAJ Kristin Crandall</a:t>
            </a:r>
          </a:p>
          <a:p>
            <a:pPr algn="ctr"/>
            <a:r>
              <a:rPr lang="en-US" sz="1400" dirty="0"/>
              <a:t>Plans and Operations Officer, DOMS</a:t>
            </a:r>
          </a:p>
          <a:p>
            <a:pPr algn="ctr"/>
            <a:r>
              <a:rPr lang="en-US" sz="1400" dirty="0">
                <a:hlinkClick r:id="rId9"/>
              </a:rPr>
              <a:t>kristin.k.crandall.mil@army.mil</a:t>
            </a:r>
            <a:endParaRPr lang="en-US" sz="1400" dirty="0"/>
          </a:p>
          <a:p>
            <a:pPr algn="ctr"/>
            <a:r>
              <a:rPr lang="en-US" sz="1400" dirty="0"/>
              <a:t>615-313-3107</a:t>
            </a:r>
          </a:p>
          <a:p>
            <a:pPr algn="ctr"/>
            <a:endParaRPr lang="en-US" sz="1400" dirty="0"/>
          </a:p>
          <a:p>
            <a:pPr algn="ctr"/>
            <a:r>
              <a:rPr lang="en-US" sz="1400" dirty="0"/>
              <a:t>LTC Dallas Clements</a:t>
            </a:r>
          </a:p>
          <a:p>
            <a:pPr algn="ctr"/>
            <a:r>
              <a:rPr lang="en-US" sz="1400" dirty="0"/>
              <a:t>Deputy J3/Director of Military Support</a:t>
            </a:r>
          </a:p>
          <a:p>
            <a:pPr algn="ctr"/>
            <a:r>
              <a:rPr lang="en-US" sz="1400" dirty="0">
                <a:hlinkClick r:id="rId10"/>
              </a:rPr>
              <a:t>dallas.c.clements.mil@army.mil</a:t>
            </a:r>
            <a:endParaRPr lang="en-US" sz="1400" dirty="0"/>
          </a:p>
          <a:p>
            <a:pPr algn="ctr"/>
            <a:r>
              <a:rPr lang="en-US" sz="1400" dirty="0"/>
              <a:t>615-313-0881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11940E4-556F-E639-94C5-3CFD356273F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36630" y="194331"/>
            <a:ext cx="1690689" cy="616396"/>
          </a:xfrm>
          <a:prstGeom prst="rect">
            <a:avLst/>
          </a:prstGeom>
          <a:ln w="19050">
            <a:solidFill>
              <a:srgbClr val="1D303F"/>
            </a:solidFill>
          </a:ln>
        </p:spPr>
      </p:pic>
    </p:spTree>
    <p:extLst>
      <p:ext uri="{BB962C8B-B14F-4D97-AF65-F5344CB8AC3E}">
        <p14:creationId xmlns:p14="http://schemas.microsoft.com/office/powerpoint/2010/main" val="17527470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C58EDA3C17899438CD4B7CEFCCA216B" ma:contentTypeVersion="20" ma:contentTypeDescription="Create a new document." ma:contentTypeScope="" ma:versionID="168d6c0e97e2f4d8ee450438cdd953d0">
  <xsd:schema xmlns:xsd="http://www.w3.org/2001/XMLSchema" xmlns:xs="http://www.w3.org/2001/XMLSchema" xmlns:p="http://schemas.microsoft.com/office/2006/metadata/properties" xmlns:ns1="http://schemas.microsoft.com/sharepoint/v3" xmlns:ns2="ecbc945c-418a-4868-9e08-298a4a2f7d3c" xmlns:ns3="01bc1090-7b5c-4fcf-a3b0-878f5576a26d" targetNamespace="http://schemas.microsoft.com/office/2006/metadata/properties" ma:root="true" ma:fieldsID="a402586885857c6006e5895f4e5d8b9d" ns1:_="" ns2:_="" ns3:_="">
    <xsd:import namespace="http://schemas.microsoft.com/sharepoint/v3"/>
    <xsd:import namespace="ecbc945c-418a-4868-9e08-298a4a2f7d3c"/>
    <xsd:import namespace="01bc1090-7b5c-4fcf-a3b0-878f5576a2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LengthInSeconds" minOccurs="0"/>
                <xsd:element ref="ns1:_ip_UnifiedCompliancePolicyProperties" minOccurs="0"/>
                <xsd:element ref="ns1:_ip_UnifiedCompliancePolicyUIAction" minOccurs="0"/>
                <xsd:element ref="ns2:MediaServiceSearchProperties" minOccurs="0"/>
                <xsd:element ref="ns2:Sequence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2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3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bc945c-418a-4868-9e08-298a4a2f7d3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cc874fec-6985-468d-9a86-0194f6fd86d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Sequence" ma:index="25" nillable="true" ma:displayName="Sequence" ma:format="Dropdown" ma:internalName="Sequence">
      <xsd:simpleType>
        <xsd:restriction base="dms:Text">
          <xsd:maxLength value="255"/>
        </xsd:restriction>
      </xsd:simpleType>
    </xsd:element>
    <xsd:element name="MediaServiceLocation" ma:index="26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bc1090-7b5c-4fcf-a3b0-878f5576a26d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8a67d9b2-1086-441d-ab96-2fcc378c6e71}" ma:internalName="TaxCatchAll" ma:showField="CatchAllData" ma:web="01bc1090-7b5c-4fcf-a3b0-878f5576a26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01bc1090-7b5c-4fcf-a3b0-878f5576a26d" xsi:nil="true"/>
    <lcf76f155ced4ddcb4097134ff3c332f xmlns="ecbc945c-418a-4868-9e08-298a4a2f7d3c">
      <Terms xmlns="http://schemas.microsoft.com/office/infopath/2007/PartnerControls"/>
    </lcf76f155ced4ddcb4097134ff3c332f>
    <Sequence xmlns="ecbc945c-418a-4868-9e08-298a4a2f7d3c" xsi:nil="true"/>
  </documentManagement>
</p:properties>
</file>

<file path=customXml/itemProps1.xml><?xml version="1.0" encoding="utf-8"?>
<ds:datastoreItem xmlns:ds="http://schemas.openxmlformats.org/officeDocument/2006/customXml" ds:itemID="{7DB5E1B9-3751-41F7-998D-36C632E5F2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ecbc945c-418a-4868-9e08-298a4a2f7d3c"/>
    <ds:schemaRef ds:uri="01bc1090-7b5c-4fcf-a3b0-878f5576a26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AD0DD23-3FB3-41B6-8FBA-D1B084F6A7E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DF908D4-A805-4AE4-8A4C-0D6A83458B66}">
  <ds:schemaRefs>
    <ds:schemaRef ds:uri="4233fc49-3339-4531-8895-cee7bd229291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http://purl.org/dc/dcmitype/"/>
    <ds:schemaRef ds:uri="http://schemas.microsoft.com/sharepoint/v3"/>
    <ds:schemaRef ds:uri="c93905bf-b08c-430b-8630-76f4d352397a"/>
    <ds:schemaRef ds:uri="http://schemas.microsoft.com/office/2006/metadata/properties"/>
    <ds:schemaRef ds:uri="http://www.w3.org/XML/1998/namespace"/>
    <ds:schemaRef ds:uri="01bc1090-7b5c-4fcf-a3b0-878f5576a26d"/>
    <ds:schemaRef ds:uri="ecbc945c-418a-4868-9e08-298a4a2f7d3c"/>
  </ds:schemaRefs>
</ds:datastoreItem>
</file>

<file path=docMetadata/LabelInfo.xml><?xml version="1.0" encoding="utf-8"?>
<clbl:labelList xmlns:clbl="http://schemas.microsoft.com/office/2020/mipLabelMetadata">
  <clbl:label id="{554eecc5-e26c-4620-b240-5a8bb326c33d}" enabled="1" method="Standard" siteId="{fae6d70f-954b-4811-92b6-0530d6f84c43}" removed="0"/>
  <clbl:label id="{db3dbd43-4c4b-4544-9f8a-0553f9f5f25e}" enabled="0" method="" siteId="{db3dbd43-4c4b-4544-9f8a-0553f9f5f25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1914</TotalTime>
  <Words>841</Words>
  <Application>Microsoft Office PowerPoint</Application>
  <PresentationFormat>On-screen Show (4:3)</PresentationFormat>
  <Paragraphs>130</Paragraphs>
  <Slides>5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Cyber WG</vt:lpstr>
      <vt:lpstr>TNMAN 2026 Basic Scenario </vt:lpstr>
      <vt:lpstr>Assumptions and Background Conditions</vt:lpstr>
      <vt:lpstr>Deliverables</vt:lpstr>
      <vt:lpstr>Lead Planners</vt:lpstr>
    </vt:vector>
  </TitlesOfParts>
  <Company>US Army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Alexander, Guy R Lt Col;Blayney;Jonathan SSG</dc:creator>
  <cp:lastModifiedBy>Roberts, Davy</cp:lastModifiedBy>
  <cp:revision>65</cp:revision>
  <cp:lastPrinted>2025-09-10T22:00:45Z</cp:lastPrinted>
  <dcterms:created xsi:type="dcterms:W3CDTF">2020-03-15T21:12:47Z</dcterms:created>
  <dcterms:modified xsi:type="dcterms:W3CDTF">2026-02-26T20:27:38Z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0x010100CC58EDA3C17899438CD4B7CEFCCA216B</vt:lpwstr>
  </property>
  <property fmtid="{D5CDD505-2E9C-101B-9397-08002B2CF9AE}" pid="3" name="MediaServiceImageTags">
    <vt:lpwstr/>
  </property>
</Properties>
</file>