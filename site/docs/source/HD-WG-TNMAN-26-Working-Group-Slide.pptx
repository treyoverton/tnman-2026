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1739" r:id="rId5"/>
    <p:sldId id="1758" r:id="rId6"/>
    <p:sldId id="17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6D690-705C-48CD-9C82-946CAB796DA2}" v="4" dt="2026-03-28T01:24:52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9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EA5DE-37CF-4EB1-A258-51F66E4E3C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9370-C710-422B-9886-D090BFBE2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0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C4E9-7CF2-FA29-587D-A94A3653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402FB-A1DA-F9B9-EE98-653EC4CDA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F2EDC-A83F-7C73-E3E6-689EAE0F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331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53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0CAF-1BF7-E840-B9C6-DFCCA027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ED4A1-F10B-1D0E-D782-759A8024E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099C4-467F-CB0C-42D3-C3B1F9388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37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9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9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8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36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9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8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7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0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1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5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367C8-6189-409E-806F-C83EEEBA739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419FB-55E9-4EE4-8AF6-AF009AB06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5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1AC8-4073-D1DC-288B-DA9E0268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301ECCA9-2C00-45AE-3C02-18D24F3E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23077"/>
            <a:ext cx="7886700" cy="5837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Working Group Slide Example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C0E8A-DA6D-6886-75F8-93F330A5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>
              <a:defRPr/>
            </a:pPr>
            <a:fld id="{6AC25671-793B-43FD-9287-2D5C3F89EA5F}" type="slidenum">
              <a:rPr lang="en-US">
                <a:solidFill>
                  <a:prstClr val="black">
                    <a:tint val="75000"/>
                  </a:prstClr>
                </a:solidFill>
                <a:latin typeface=" Arial"/>
              </a:rPr>
              <a:pPr defTabSz="457189"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  <a:latin typeface=" 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719A4-39E0-4F67-39F1-F74B4555A104}"/>
              </a:ext>
            </a:extLst>
          </p:cNvPr>
          <p:cNvSpPr/>
          <p:nvPr/>
        </p:nvSpPr>
        <p:spPr>
          <a:xfrm>
            <a:off x="3372631" y="998011"/>
            <a:ext cx="5527968" cy="315325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5BAF5-AD21-E47C-D63C-B042F2103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21" y="1083888"/>
            <a:ext cx="338485" cy="3430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Google Shape;1599;p61">
            <a:extLst>
              <a:ext uri="{FF2B5EF4-FFF2-40B4-BE49-F238E27FC236}">
                <a16:creationId xmlns:a16="http://schemas.microsoft.com/office/drawing/2014/main" id="{2A9F8D8B-302D-78FE-8D3B-0E0154F6D01E}"/>
              </a:ext>
            </a:extLst>
          </p:cNvPr>
          <p:cNvSpPr txBox="1"/>
          <p:nvPr/>
        </p:nvSpPr>
        <p:spPr>
          <a:xfrm>
            <a:off x="6111650" y="4151267"/>
            <a:ext cx="2788953" cy="147816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defTabSz="457189">
              <a:lnSpc>
                <a:spcPct val="105000"/>
              </a:lnSpc>
              <a:defRPr/>
            </a:pPr>
            <a:r>
              <a:rPr lang="en-US" sz="1200" b="1" u="sng" dirty="0">
                <a:solidFill>
                  <a:prstClr val="black"/>
                </a:solidFill>
                <a:latin typeface="Arial"/>
                <a:ea typeface="Arial"/>
                <a:cs typeface="Arial"/>
              </a:rPr>
              <a:t>POC &amp; Location Information: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Holston POC: Tony Armstrong, 423-341-5840, HAAP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State Guard </a:t>
            </a:r>
            <a:r>
              <a:rPr lang="en-US" sz="1000" dirty="0" err="1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Poc</a:t>
            </a:r>
            <a:r>
              <a:rPr lang="en-US" sz="10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: COL Noah Roark 423-329-2620</a:t>
            </a:r>
          </a:p>
          <a:p>
            <a:pPr defTabSz="457189">
              <a:lnSpc>
                <a:spcPct val="105000"/>
              </a:lnSpc>
              <a:defRPr/>
            </a:pPr>
            <a:endParaRPr lang="en-US" sz="10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  <a:p>
            <a:pPr defTabSz="457189">
              <a:lnSpc>
                <a:spcPct val="105000"/>
              </a:lnSpc>
              <a:defRPr/>
            </a:pPr>
            <a:endParaRPr lang="en-US" sz="10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</p:txBody>
      </p:sp>
      <p:sp>
        <p:nvSpPr>
          <p:cNvPr id="9" name="Google Shape;1600;p61">
            <a:extLst>
              <a:ext uri="{FF2B5EF4-FFF2-40B4-BE49-F238E27FC236}">
                <a16:creationId xmlns:a16="http://schemas.microsoft.com/office/drawing/2014/main" id="{10B1C9B6-0DAF-3903-E4DC-D94BF3379BDB}"/>
              </a:ext>
            </a:extLst>
          </p:cNvPr>
          <p:cNvSpPr txBox="1"/>
          <p:nvPr/>
        </p:nvSpPr>
        <p:spPr>
          <a:xfrm>
            <a:off x="3372631" y="4162671"/>
            <a:ext cx="2739012" cy="147816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b="1" u="sng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Timeline: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13 MAY 2026  Attack begin 08:00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		ADVON / establish ICP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14 May 2026 Main day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15 May  half day and AAR</a:t>
            </a:r>
            <a:endParaRPr lang="en-US" sz="9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  <a:p>
            <a:pPr defTabSz="457189">
              <a:buClr>
                <a:srgbClr val="000000"/>
              </a:buClr>
              <a:buSzPts val="1000"/>
              <a:defRPr/>
            </a:pPr>
            <a:endParaRPr lang="en-US" sz="900" dirty="0">
              <a:solidFill>
                <a:prstClr val="black"/>
              </a:solidFill>
              <a:latin typeface="Arial"/>
              <a:ea typeface="Calibri"/>
              <a:cs typeface="Arial" panose="020B0604020202020204" pitchFamily="34" charset="0"/>
            </a:endParaRPr>
          </a:p>
          <a:p>
            <a:pPr defTabSz="457189">
              <a:buClr>
                <a:srgbClr val="000000"/>
              </a:buClr>
              <a:buSzPts val="1000"/>
              <a:defRPr/>
            </a:pPr>
            <a:endParaRPr lang="en-US" sz="900" b="1" dirty="0">
              <a:solidFill>
                <a:prstClr val="black"/>
              </a:solidFill>
              <a:latin typeface="Arial"/>
              <a:ea typeface="Calibri"/>
              <a:cs typeface="Arial" panose="020B0604020202020204" pitchFamily="34" charset="0"/>
            </a:endParaRPr>
          </a:p>
          <a:p>
            <a:pPr defTabSz="457189">
              <a:buClr>
                <a:prstClr val="black"/>
              </a:buClr>
              <a:buSzPts val="1200"/>
              <a:defRPr/>
            </a:pPr>
            <a:endParaRPr sz="1000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" name="Google Shape;1604;p61">
            <a:extLst>
              <a:ext uri="{FF2B5EF4-FFF2-40B4-BE49-F238E27FC236}">
                <a16:creationId xmlns:a16="http://schemas.microsoft.com/office/drawing/2014/main" id="{89BE0BE5-14BA-1B85-1401-D7C521765054}"/>
              </a:ext>
            </a:extLst>
          </p:cNvPr>
          <p:cNvSpPr txBox="1"/>
          <p:nvPr/>
        </p:nvSpPr>
        <p:spPr>
          <a:xfrm>
            <a:off x="3372629" y="5640836"/>
            <a:ext cx="5527968" cy="1060599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1143" b="1" u="sng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Logistics &amp; Resources</a:t>
            </a:r>
            <a:r>
              <a:rPr lang="en-US" sz="1143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Food/Water:</a:t>
            </a:r>
            <a:r>
              <a:rPr lang="en-US" sz="857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All units are responsible for food and water for their personnel.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Lodging:</a:t>
            </a:r>
            <a:r>
              <a:rPr lang="en-US" sz="857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All units are responsible for lodging for their personnel, if needed.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Role Players: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435448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Comms: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b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TNNG: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P: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TACN;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A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: 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FirstNet </a:t>
            </a:r>
            <a:r>
              <a:rPr lang="en-US" sz="857" dirty="0" err="1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ePTT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C: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Cell Phone; </a:t>
            </a:r>
            <a:r>
              <a:rPr lang="en-US" sz="857" b="1" i="1" u="sng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E:</a:t>
            </a:r>
            <a:r>
              <a:rPr lang="en-US" sz="857" b="1" i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 </a:t>
            </a:r>
            <a:r>
              <a:rPr lang="en-US" sz="857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Satellite Phone</a:t>
            </a:r>
            <a:r>
              <a:rPr lang="en-US" sz="857" b="1" dirty="0">
                <a:solidFill>
                  <a:prstClr val="black"/>
                </a:solidFill>
                <a:highlight>
                  <a:srgbClr val="FFFF00"/>
                </a:highlight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JISCC  </a:t>
            </a:r>
            <a:endParaRPr lang="en-US" sz="857" dirty="0">
              <a:solidFill>
                <a:prstClr val="black"/>
              </a:solidFill>
              <a:latin typeface=" Arial"/>
              <a:ea typeface="Arial"/>
              <a:cs typeface="Arial"/>
              <a:sym typeface="Arial"/>
            </a:endParaRPr>
          </a:p>
          <a:p>
            <a:pPr defTabSz="653140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Provided by SG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40"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Medical: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Provided by SG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599;p61">
            <a:extLst>
              <a:ext uri="{FF2B5EF4-FFF2-40B4-BE49-F238E27FC236}">
                <a16:creationId xmlns:a16="http://schemas.microsoft.com/office/drawing/2014/main" id="{0F062CEA-3A33-AC4C-09D9-7A788E47F938}"/>
              </a:ext>
            </a:extLst>
          </p:cNvPr>
          <p:cNvSpPr txBox="1"/>
          <p:nvPr/>
        </p:nvSpPr>
        <p:spPr>
          <a:xfrm>
            <a:off x="243402" y="1000864"/>
            <a:ext cx="3129228" cy="19769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defTabSz="457189">
              <a:lnSpc>
                <a:spcPct val="105000"/>
              </a:lnSpc>
              <a:defRPr/>
            </a:pPr>
            <a:r>
              <a:rPr lang="en-US" sz="13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Military installation in TN has been attacked during the Natural Disaster and limited resources are available </a:t>
            </a:r>
            <a:endParaRPr lang="en-US" sz="13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457189">
              <a:lnSpc>
                <a:spcPct val="105000"/>
              </a:lnSpc>
              <a:defRPr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Triggers/Artificialities/Simulation: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-Limited resources to Support MOU/MOAs triggers request for support through DCO/DCE which ultimately leads to Fed tasking state to support.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HAAP contact Local EMA, EMA contact TEMA, TEMA contact NG.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drone system.  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Commander’s approval for Drone use</a:t>
            </a:r>
          </a:p>
          <a:p>
            <a:pPr defTabSz="457189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graphicFrame>
        <p:nvGraphicFramePr>
          <p:cNvPr id="14" name="Google Shape;1603;p61">
            <a:extLst>
              <a:ext uri="{FF2B5EF4-FFF2-40B4-BE49-F238E27FC236}">
                <a16:creationId xmlns:a16="http://schemas.microsoft.com/office/drawing/2014/main" id="{F0A4F7DA-2292-413B-47D0-535E9D849E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9653733"/>
              </p:ext>
            </p:extLst>
          </p:nvPr>
        </p:nvGraphicFramePr>
        <p:xfrm>
          <a:off x="243394" y="2961278"/>
          <a:ext cx="3129229" cy="14894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9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021">
                  <a:extLst>
                    <a:ext uri="{9D8B030D-6E8A-4147-A177-3AD203B41FA5}">
                      <a16:colId xmlns:a16="http://schemas.microsoft.com/office/drawing/2014/main" val="1908897264"/>
                    </a:ext>
                  </a:extLst>
                </a:gridCol>
                <a:gridCol w="495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Participants</a:t>
                      </a:r>
                      <a:endParaRPr sz="12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VICs/ Equipment</a:t>
                      </a:r>
                      <a:endParaRPr sz="9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45725" marB="457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PAX</a:t>
                      </a:r>
                      <a:endParaRPr sz="9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1" marR="91451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Holston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644720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State Guard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5/4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JABS/J6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88428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PAO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9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1" marR="91451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Google Shape;1602;p61">
            <a:extLst>
              <a:ext uri="{FF2B5EF4-FFF2-40B4-BE49-F238E27FC236}">
                <a16:creationId xmlns:a16="http://schemas.microsoft.com/office/drawing/2014/main" id="{FB7C3221-610E-4A53-A775-4F8102833A5A}"/>
              </a:ext>
            </a:extLst>
          </p:cNvPr>
          <p:cNvSpPr txBox="1"/>
          <p:nvPr/>
        </p:nvSpPr>
        <p:spPr>
          <a:xfrm>
            <a:off x="243397" y="4441589"/>
            <a:ext cx="3129229" cy="2279071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300" b="1" u="sng" dirty="0">
                <a:solidFill>
                  <a:prstClr val="black"/>
                </a:solidFill>
                <a:latin typeface=" Arial"/>
                <a:cs typeface="Calibri"/>
              </a:rPr>
              <a:t>Objectives: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-Exercise the TERP (Tennessee Emergency Response Plan) HD Annex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-Establish ICP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 Coordinate with Holston EMA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-Test HAAP drone system and drone approval process.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-CSDA  TTX 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Perimeter security, parking lot security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Base entrance inject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200" dirty="0">
                <a:solidFill>
                  <a:prstClr val="black"/>
                </a:solidFill>
                <a:latin typeface=" Arial"/>
                <a:cs typeface="Calibri"/>
              </a:rPr>
              <a:t>Protection of Water way: Netherland Park.  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endParaRPr lang="en-US" sz="1300" dirty="0">
              <a:solidFill>
                <a:prstClr val="black"/>
              </a:solidFill>
              <a:latin typeface=" Arial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755F08-DF97-27D5-0A60-186859E771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9"/>
            <a:ext cx="9144000" cy="1040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8EE929-F35B-1638-22F7-4E49E7337F3E}"/>
              </a:ext>
            </a:extLst>
          </p:cNvPr>
          <p:cNvSpPr txBox="1"/>
          <p:nvPr/>
        </p:nvSpPr>
        <p:spPr>
          <a:xfrm>
            <a:off x="3183809" y="195649"/>
            <a:ext cx="329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HD Working Group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19950E-DE1B-AFAB-F401-200F7DCCB1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627" y="998010"/>
            <a:ext cx="5527970" cy="313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1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A22E-75B5-DA20-FE0F-2DED73C6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0B268-9924-A4EB-08A3-1E6ECD49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2</a:t>
            </a:fld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1BAAF4B-7B18-1F11-3AD9-1D0A8319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7"/>
            <a:ext cx="7886700" cy="76109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Inject Examples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8927D-46B5-ECD5-FF00-7D08C62DFC0B}"/>
              </a:ext>
            </a:extLst>
          </p:cNvPr>
          <p:cNvSpPr txBox="1"/>
          <p:nvPr/>
        </p:nvSpPr>
        <p:spPr>
          <a:xfrm>
            <a:off x="186519" y="1093472"/>
            <a:ext cx="38789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5 W’s</a:t>
            </a:r>
          </a:p>
          <a:p>
            <a:r>
              <a:rPr lang="en-US" sz="1400" dirty="0"/>
              <a:t>	-Who: EMA, HAAP, TEMA, RCC, TNNG</a:t>
            </a:r>
          </a:p>
          <a:p>
            <a:r>
              <a:rPr lang="en-US" sz="1400" dirty="0"/>
              <a:t>	-What: HD </a:t>
            </a:r>
            <a:r>
              <a:rPr lang="en-US" sz="1400" dirty="0" err="1"/>
              <a:t>scenerio</a:t>
            </a:r>
            <a:endParaRPr lang="en-US" sz="1400" dirty="0"/>
          </a:p>
          <a:p>
            <a:r>
              <a:rPr lang="en-US" sz="1400" dirty="0"/>
              <a:t>	-When: 13-15 MAY 2026</a:t>
            </a:r>
          </a:p>
          <a:p>
            <a:r>
              <a:rPr lang="en-US" sz="1400" dirty="0"/>
              <a:t>	-Where: Kingsport, TN</a:t>
            </a:r>
          </a:p>
          <a:p>
            <a:r>
              <a:rPr lang="en-US" sz="1400" dirty="0"/>
              <a:t>	-Why: Execute HD crawl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Expected Player Action: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 SG, 1 PAO, 3 HAAP, 2 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Measure of Performance/Effectiveness: 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Realism: mixture of FTX and TTX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B3CB8-4E4D-C6B8-AD22-0EC90F792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9"/>
            <a:ext cx="9144000" cy="1040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DFB4AB-16CE-AC2F-ADC2-16B73A8B7036}"/>
              </a:ext>
            </a:extLst>
          </p:cNvPr>
          <p:cNvSpPr txBox="1"/>
          <p:nvPr/>
        </p:nvSpPr>
        <p:spPr>
          <a:xfrm>
            <a:off x="4065459" y="257786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INJECTS</a:t>
            </a:r>
          </a:p>
        </p:txBody>
      </p:sp>
      <p:sp>
        <p:nvSpPr>
          <p:cNvPr id="8" name="Google Shape;1602;p61">
            <a:extLst>
              <a:ext uri="{FF2B5EF4-FFF2-40B4-BE49-F238E27FC236}">
                <a16:creationId xmlns:a16="http://schemas.microsoft.com/office/drawing/2014/main" id="{9FB03FCC-023B-270D-962E-921E42696515}"/>
              </a:ext>
            </a:extLst>
          </p:cNvPr>
          <p:cNvSpPr txBox="1"/>
          <p:nvPr/>
        </p:nvSpPr>
        <p:spPr>
          <a:xfrm>
            <a:off x="4357421" y="1034581"/>
            <a:ext cx="4600060" cy="532177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b="1" u="sng" dirty="0">
                <a:solidFill>
                  <a:prstClr val="black"/>
                </a:solidFill>
                <a:latin typeface=" Arial"/>
                <a:cs typeface="Calibri"/>
              </a:rPr>
              <a:t>Objectives: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-Exercise the TERP (Tennessee Emergency Response Plan) HD Annex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-Establish ICP (5 SG PAX)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 Coordinate with Holston EMA (2 HAAP PAX)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-CSDA  TTX 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     Test HAAP drone system and drone approval process. (4 SG     	PAX)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Perimeter security, parking lot security (6 SG PAX)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Damage Assessment UAS (4 SG PAX – Duplicate Number)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Base entrance inject (3 SG PAX)</a:t>
            </a:r>
          </a:p>
          <a:p>
            <a:pPr marL="285750" indent="-285750" defTabSz="457189">
              <a:buClr>
                <a:srgbClr val="000000"/>
              </a:buClr>
              <a:buSzPts val="1200"/>
              <a:buFontTx/>
              <a:buChar char="-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Protection of Water way (Waterway intrusion): Netherland Park. (2-4 SG PAX)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-Medical Support (2 SG PAX)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</a:t>
            </a:r>
            <a:r>
              <a:rPr lang="en-US" sz="1400" b="1" dirty="0">
                <a:solidFill>
                  <a:prstClr val="black"/>
                </a:solidFill>
                <a:latin typeface=" Arial"/>
                <a:cs typeface="Calibri"/>
              </a:rPr>
              <a:t>Reporting Process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-JISCC Deployment (NG)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r>
              <a:rPr lang="en-US" sz="1400" dirty="0">
                <a:solidFill>
                  <a:prstClr val="black"/>
                </a:solidFill>
                <a:latin typeface=" Arial"/>
                <a:cs typeface="Calibri"/>
              </a:rPr>
              <a:t>Total estimated SG support: 10 pax (this will trigger RFA through EPLO to DCO for Fed resources, fed resources are unavailable therefore we will reach out to TEMA for support (Executes CSDA)</a:t>
            </a:r>
          </a:p>
          <a:p>
            <a:pPr defTabSz="457189">
              <a:buClr>
                <a:srgbClr val="000000"/>
              </a:buClr>
              <a:buSzPts val="1200"/>
              <a:defRPr/>
            </a:pPr>
            <a:endParaRPr lang="en-US" sz="1300" dirty="0">
              <a:solidFill>
                <a:prstClr val="black"/>
              </a:solidFill>
              <a:latin typeface=" Arial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6950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A40D-B940-99DC-E1B2-41FE926A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35695-A211-4276-2C72-AE460910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3</a:t>
            </a:fld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DC7B656-B185-E157-6304-CE043F160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7"/>
            <a:ext cx="7886700" cy="76109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Inject Examples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07F22-16A3-CB1F-AC75-7594D50F4CD4}"/>
              </a:ext>
            </a:extLst>
          </p:cNvPr>
          <p:cNvSpPr txBox="1"/>
          <p:nvPr/>
        </p:nvSpPr>
        <p:spPr>
          <a:xfrm>
            <a:off x="466381" y="761827"/>
            <a:ext cx="776321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TIMELINE: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13 May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0700  drone attack on Holston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0800 staff conducts TTX with maps in room 106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0900  State Guard (SG) given WARNORD to support the mission and establish ICP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1000hrs  FRAGORD push to state Guard to execute movement of ADVON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1200 SG begins establishing ICP at MT Carmel Armory with ADVON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1600 ICP IOC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14 MAY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0900  HOLSTON EMA links up with SG at ICP to establish requirements for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1000- UTC  Perimeter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1200-  Breach on restricted water way. SG must conduct Shore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1300-  2 pax try to enter HAAP with only ID card to test security of the entrance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1400- Drone Damage assessment and perimeter recon (also test drone detection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1430-  HAAP request approval for Drone to enter restricted air space (test response capability for approval)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15 May:  Recovery and AAR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57C36-024C-943B-6F7F-6C519B459C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9"/>
            <a:ext cx="9144000" cy="1040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88EC4F-1AE1-68A3-33B0-D4246D7041CD}"/>
              </a:ext>
            </a:extLst>
          </p:cNvPr>
          <p:cNvSpPr txBox="1"/>
          <p:nvPr/>
        </p:nvSpPr>
        <p:spPr>
          <a:xfrm>
            <a:off x="4065459" y="257786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181624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58EDA3C17899438CD4B7CEFCCA216B" ma:contentTypeVersion="20" ma:contentTypeDescription="Create a new document." ma:contentTypeScope="" ma:versionID="168d6c0e97e2f4d8ee450438cdd953d0">
  <xsd:schema xmlns:xsd="http://www.w3.org/2001/XMLSchema" xmlns:xs="http://www.w3.org/2001/XMLSchema" xmlns:p="http://schemas.microsoft.com/office/2006/metadata/properties" xmlns:ns1="http://schemas.microsoft.com/sharepoint/v3" xmlns:ns2="ecbc945c-418a-4868-9e08-298a4a2f7d3c" xmlns:ns3="01bc1090-7b5c-4fcf-a3b0-878f5576a26d" targetNamespace="http://schemas.microsoft.com/office/2006/metadata/properties" ma:root="true" ma:fieldsID="a402586885857c6006e5895f4e5d8b9d" ns1:_="" ns2:_="" ns3:_="">
    <xsd:import namespace="http://schemas.microsoft.com/sharepoint/v3"/>
    <xsd:import namespace="ecbc945c-418a-4868-9e08-298a4a2f7d3c"/>
    <xsd:import namespace="01bc1090-7b5c-4fcf-a3b0-878f5576a2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Sequenc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c945c-418a-4868-9e08-298a4a2f7d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equence" ma:index="25" nillable="true" ma:displayName="Sequence" ma:format="Dropdown" ma:internalName="Sequence">
      <xsd:simpleType>
        <xsd:restriction base="dms:Text">
          <xsd:maxLength value="255"/>
        </xsd:restriction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c1090-7b5c-4fcf-a3b0-878f5576a26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a67d9b2-1086-441d-ab96-2fcc378c6e71}" ma:internalName="TaxCatchAll" ma:showField="CatchAllData" ma:web="01bc1090-7b5c-4fcf-a3b0-878f5576a2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01bc1090-7b5c-4fcf-a3b0-878f5576a26d" xsi:nil="true"/>
    <lcf76f155ced4ddcb4097134ff3c332f xmlns="ecbc945c-418a-4868-9e08-298a4a2f7d3c">
      <Terms xmlns="http://schemas.microsoft.com/office/infopath/2007/PartnerControls"/>
    </lcf76f155ced4ddcb4097134ff3c332f>
    <Sequence xmlns="ecbc945c-418a-4868-9e08-298a4a2f7d3c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970F11-3FEA-4B90-AAB8-B6EB8C95D2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cbc945c-418a-4868-9e08-298a4a2f7d3c"/>
    <ds:schemaRef ds:uri="01bc1090-7b5c-4fcf-a3b0-878f5576a2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11B371-93A9-4CCB-AE31-D70ECAB388F9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infopath/2007/PartnerControls"/>
    <ds:schemaRef ds:uri="01bc1090-7b5c-4fcf-a3b0-878f5576a26d"/>
    <ds:schemaRef ds:uri="http://purl.org/dc/terms/"/>
    <ds:schemaRef ds:uri="ecbc945c-418a-4868-9e08-298a4a2f7d3c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9FD268B-E7A7-4CAE-9D27-667170B2AB7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651</Words>
  <Application>Microsoft Office PowerPoint</Application>
  <PresentationFormat>On-screen Show (4:3)</PresentationFormat>
  <Paragraphs>102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 Arial</vt:lpstr>
      <vt:lpstr>Aptos</vt:lpstr>
      <vt:lpstr>Aptos Display</vt:lpstr>
      <vt:lpstr>Arial</vt:lpstr>
      <vt:lpstr>Calibri</vt:lpstr>
      <vt:lpstr>Office Theme</vt:lpstr>
      <vt:lpstr>Working Group Slide Example</vt:lpstr>
      <vt:lpstr>Inject Examples</vt:lpstr>
      <vt:lpstr>Inject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Callison, T R (Trint) MAJ USARMY NG TNARNG (USA)</dc:creator>
  <cp:lastModifiedBy>Callison, T R (Trint) MAJ USARMY NG TNARNG (USA)</cp:lastModifiedBy>
  <cp:revision>3</cp:revision>
  <dcterms:created xsi:type="dcterms:W3CDTF">2026-03-26T13:33:08Z</dcterms:created>
  <dcterms:modified xsi:type="dcterms:W3CDTF">2026-04-15T14:04:37Z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0x010100CC58EDA3C17899438CD4B7CEFCCA216B</vt:lpwstr>
  </property>
</Properties>
</file>